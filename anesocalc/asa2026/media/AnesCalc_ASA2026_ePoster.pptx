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E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122" d="100"/>
          <a:sy n="122" d="100"/>
        </p:scale>
        <p:origin x="224"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023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CEE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60704"/>
          </a:xfrm>
          <a:prstGeom prst="rect">
            <a:avLst/>
          </a:prstGeom>
          <a:solidFill>
            <a:srgbClr val="253E85"/>
          </a:solidFill>
          <a:ln/>
        </p:spPr>
        <p:txBody>
          <a:bodyPr/>
          <a:lstStyle/>
          <a:p>
            <a:endParaRPr lang="en-US"/>
          </a:p>
        </p:txBody>
      </p:sp>
      <p:sp>
        <p:nvSpPr>
          <p:cNvPr id="3" name="Shape 1"/>
          <p:cNvSpPr/>
          <p:nvPr/>
        </p:nvSpPr>
        <p:spPr>
          <a:xfrm>
            <a:off x="0" y="1060704"/>
            <a:ext cx="12191695" cy="45720"/>
          </a:xfrm>
          <a:prstGeom prst="rect">
            <a:avLst/>
          </a:prstGeom>
          <a:solidFill>
            <a:srgbClr val="BD9B70"/>
          </a:solidFill>
          <a:ln/>
        </p:spPr>
        <p:txBody>
          <a:bodyPr/>
          <a:lstStyle/>
          <a:p>
            <a:endParaRPr lang="en-US"/>
          </a:p>
        </p:txBody>
      </p:sp>
      <p:pic>
        <p:nvPicPr>
          <p:cNvPr id="4" name="Image 0" descr="asa_header.png"/>
          <p:cNvPicPr>
            <a:picLocks noChangeAspect="1"/>
          </p:cNvPicPr>
          <p:nvPr/>
        </p:nvPicPr>
        <p:blipFill>
          <a:blip r:embed="rId3"/>
          <a:stretch>
            <a:fillRect/>
          </a:stretch>
        </p:blipFill>
        <p:spPr>
          <a:xfrm>
            <a:off x="274320" y="141732"/>
            <a:ext cx="2057400" cy="774497"/>
          </a:xfrm>
          <a:prstGeom prst="rect">
            <a:avLst/>
          </a:prstGeom>
        </p:spPr>
      </p:pic>
      <p:sp>
        <p:nvSpPr>
          <p:cNvPr id="5" name="Shape 2"/>
          <p:cNvSpPr/>
          <p:nvPr/>
        </p:nvSpPr>
        <p:spPr>
          <a:xfrm>
            <a:off x="2487168" y="182880"/>
            <a:ext cx="10973" cy="694944"/>
          </a:xfrm>
          <a:prstGeom prst="rect">
            <a:avLst/>
          </a:prstGeom>
          <a:solidFill>
            <a:srgbClr val="BD9B70"/>
          </a:solidFill>
          <a:ln/>
        </p:spPr>
        <p:txBody>
          <a:bodyPr/>
          <a:lstStyle/>
          <a:p>
            <a:endParaRPr lang="en-US"/>
          </a:p>
        </p:txBody>
      </p:sp>
      <p:sp>
        <p:nvSpPr>
          <p:cNvPr id="6" name="Text 3"/>
          <p:cNvSpPr txBox="1"/>
          <p:nvPr/>
        </p:nvSpPr>
        <p:spPr>
          <a:xfrm>
            <a:off x="2697480" y="109728"/>
            <a:ext cx="7543800" cy="301752"/>
          </a:xfrm>
          <a:prstGeom prst="rect">
            <a:avLst/>
          </a:prstGeom>
          <a:noFill/>
          <a:ln/>
        </p:spPr>
        <p:txBody>
          <a:bodyPr wrap="square" lIns="0" tIns="0" rIns="0" bIns="0" rtlCol="0" anchor="t"/>
          <a:lstStyle/>
          <a:p>
            <a:pPr marL="0" indent="0">
              <a:buNone/>
            </a:pPr>
            <a:r>
              <a:rPr lang="en-US" sz="1900" b="1" dirty="0">
                <a:solidFill>
                  <a:srgbClr val="FFFFFF"/>
                </a:solidFill>
                <a:latin typeface="Calibri" pitchFamily="34" charset="0"/>
                <a:ea typeface="Calibri" pitchFamily="34" charset="-122"/>
                <a:cs typeface="Calibri" pitchFamily="34" charset="-120"/>
              </a:rPr>
              <a:t>AI-Assisted “Vibe Coding” for Clinical Workflow Optimization</a:t>
            </a:r>
            <a:endParaRPr lang="en-US" sz="1900" dirty="0"/>
          </a:p>
        </p:txBody>
      </p:sp>
      <p:sp>
        <p:nvSpPr>
          <p:cNvPr id="7" name="Text 4"/>
          <p:cNvSpPr txBox="1"/>
          <p:nvPr/>
        </p:nvSpPr>
        <p:spPr>
          <a:xfrm>
            <a:off x="2697480" y="402336"/>
            <a:ext cx="7543800" cy="201168"/>
          </a:xfrm>
          <a:prstGeom prst="rect">
            <a:avLst/>
          </a:prstGeom>
          <a:noFill/>
          <a:ln/>
        </p:spPr>
        <p:txBody>
          <a:bodyPr wrap="square" lIns="0" tIns="0" rIns="0" bIns="0" rtlCol="0" anchor="t"/>
          <a:lstStyle/>
          <a:p>
            <a:pPr marL="0" indent="0">
              <a:buNone/>
            </a:pPr>
            <a:r>
              <a:rPr lang="en-US" sz="1250" i="1" dirty="0">
                <a:solidFill>
                  <a:srgbClr val="C9D2EC"/>
                </a:solidFill>
                <a:latin typeface="Calibri" pitchFamily="34" charset="0"/>
                <a:ea typeface="Calibri" pitchFamily="34" charset="-122"/>
                <a:cs typeface="Calibri" pitchFamily="34" charset="-120"/>
              </a:rPr>
              <a:t>An Anesthesiology Use Case</a:t>
            </a:r>
            <a:endParaRPr lang="en-US" sz="1250" dirty="0"/>
          </a:p>
        </p:txBody>
      </p:sp>
      <p:sp>
        <p:nvSpPr>
          <p:cNvPr id="8" name="Text 5"/>
          <p:cNvSpPr txBox="1"/>
          <p:nvPr/>
        </p:nvSpPr>
        <p:spPr>
          <a:xfrm>
            <a:off x="2697480" y="658368"/>
            <a:ext cx="7543800" cy="182880"/>
          </a:xfrm>
          <a:prstGeom prst="rect">
            <a:avLst/>
          </a:prstGeom>
          <a:noFill/>
          <a:ln/>
        </p:spPr>
        <p:txBody>
          <a:bodyPr wrap="square" lIns="0" tIns="0" rIns="0" bIns="0" rtlCol="0" anchor="t"/>
          <a:lstStyle/>
          <a:p>
            <a:pPr marL="0" indent="0">
              <a:buNone/>
            </a:pPr>
            <a:r>
              <a:rPr lang="en-US" sz="950" b="1" u="sng" dirty="0">
                <a:solidFill>
                  <a:srgbClr val="FFFFFF"/>
                </a:solidFill>
                <a:latin typeface="Calibri" pitchFamily="34" charset="0"/>
                <a:ea typeface="Calibri" pitchFamily="34" charset="-122"/>
                <a:cs typeface="Calibri" pitchFamily="34" charset="-120"/>
              </a:rPr>
              <a:t>Andrew Peace, BS, FP-C</a:t>
            </a:r>
            <a:r>
              <a:rPr lang="en-US" sz="950" b="1" dirty="0">
                <a:solidFill>
                  <a:srgbClr val="FFFFFF"/>
                </a:solidFill>
                <a:latin typeface="Calibri" pitchFamily="34" charset="0"/>
                <a:ea typeface="Calibri" pitchFamily="34" charset="-122"/>
                <a:cs typeface="Calibri" pitchFamily="34" charset="-120"/>
              </a:rPr>
              <a:t>¹  ·  Alexander Morris, MS</a:t>
            </a:r>
            <a:r>
              <a:rPr lang="en-US" sz="950" dirty="0">
                <a:solidFill>
                  <a:srgbClr val="FFFFFF"/>
                </a:solidFill>
                <a:latin typeface="Calibri" pitchFamily="34" charset="0"/>
                <a:ea typeface="Calibri" pitchFamily="34" charset="-122"/>
                <a:cs typeface="Calibri" pitchFamily="34" charset="-120"/>
              </a:rPr>
              <a:t>²</a:t>
            </a:r>
            <a:endParaRPr lang="en-US" sz="950" dirty="0"/>
          </a:p>
        </p:txBody>
      </p:sp>
      <p:sp>
        <p:nvSpPr>
          <p:cNvPr id="9" name="Text 6"/>
          <p:cNvSpPr txBox="1"/>
          <p:nvPr/>
        </p:nvSpPr>
        <p:spPr>
          <a:xfrm>
            <a:off x="2697480" y="841248"/>
            <a:ext cx="7543800" cy="182880"/>
          </a:xfrm>
          <a:prstGeom prst="rect">
            <a:avLst/>
          </a:prstGeom>
          <a:noFill/>
          <a:ln/>
        </p:spPr>
        <p:txBody>
          <a:bodyPr wrap="square" lIns="0" tIns="0" rIns="0" bIns="0" rtlCol="0" anchor="t"/>
          <a:lstStyle/>
          <a:p>
            <a:pPr marL="0" indent="0">
              <a:buNone/>
            </a:pPr>
            <a:r>
              <a:rPr lang="en-US" sz="780" dirty="0">
                <a:solidFill>
                  <a:srgbClr val="C9D2EC"/>
                </a:solidFill>
                <a:latin typeface="Calibri" pitchFamily="34" charset="0"/>
                <a:ea typeface="Calibri" pitchFamily="34" charset="-122"/>
                <a:cs typeface="Calibri" pitchFamily="34" charset="-120"/>
              </a:rPr>
              <a:t>¹² Burrell College School of Osteopathic Medicine, Class of 2027</a:t>
            </a:r>
            <a:r>
              <a:rPr lang="en-US" sz="780" dirty="0">
                <a:solidFill>
                  <a:srgbClr val="BD9B70"/>
                </a:solidFill>
                <a:latin typeface="Calibri" pitchFamily="34" charset="0"/>
                <a:ea typeface="Calibri" pitchFamily="34" charset="-122"/>
                <a:cs typeface="Calibri" pitchFamily="34" charset="-120"/>
              </a:rPr>
              <a:t>  —  </a:t>
            </a:r>
            <a:r>
              <a:rPr lang="en-US" sz="780" dirty="0">
                <a:solidFill>
                  <a:srgbClr val="C9D2EC"/>
                </a:solidFill>
                <a:latin typeface="Calibri" pitchFamily="34" charset="0"/>
                <a:ea typeface="Calibri" pitchFamily="34" charset="-122"/>
                <a:cs typeface="Calibri" pitchFamily="34" charset="-120"/>
              </a:rPr>
              <a:t>¹Las Cruces, NM   ²Albuquerque, NM</a:t>
            </a:r>
            <a:endParaRPr lang="en-US" sz="780" dirty="0"/>
          </a:p>
        </p:txBody>
      </p:sp>
      <p:sp>
        <p:nvSpPr>
          <p:cNvPr id="10" name="Shape 7"/>
          <p:cNvSpPr/>
          <p:nvPr/>
        </p:nvSpPr>
        <p:spPr>
          <a:xfrm>
            <a:off x="10442448" y="164592"/>
            <a:ext cx="731520" cy="731520"/>
          </a:xfrm>
          <a:prstGeom prst="roundRect">
            <a:avLst>
              <a:gd name="adj" fmla="val 6250"/>
            </a:avLst>
          </a:prstGeom>
          <a:solidFill>
            <a:srgbClr val="FFFFFF"/>
          </a:solidFill>
          <a:ln/>
        </p:spPr>
        <p:txBody>
          <a:bodyPr/>
          <a:lstStyle/>
          <a:p>
            <a:endParaRPr lang="en-US"/>
          </a:p>
        </p:txBody>
      </p:sp>
      <p:sp>
        <p:nvSpPr>
          <p:cNvPr id="11" name="Text 8"/>
          <p:cNvSpPr txBox="1"/>
          <p:nvPr/>
        </p:nvSpPr>
        <p:spPr>
          <a:xfrm>
            <a:off x="10442448" y="164592"/>
            <a:ext cx="731520" cy="731520"/>
          </a:xfrm>
          <a:prstGeom prst="rect">
            <a:avLst/>
          </a:prstGeom>
          <a:noFill/>
          <a:ln/>
        </p:spPr>
        <p:txBody>
          <a:bodyPr wrap="square" lIns="0" tIns="0" rIns="0" bIns="0" rtlCol="0" anchor="ctr"/>
          <a:lstStyle/>
          <a:p>
            <a:pPr marL="0" indent="0" algn="ctr">
              <a:buNone/>
            </a:pPr>
            <a:endParaRPr lang="en-US" sz="700" dirty="0"/>
          </a:p>
        </p:txBody>
      </p:sp>
      <p:pic>
        <p:nvPicPr>
          <p:cNvPr id="12" name="Image 1" descr="bcsom_round_white_header.png"/>
          <p:cNvPicPr>
            <a:picLocks noChangeAspect="1"/>
          </p:cNvPicPr>
          <p:nvPr/>
        </p:nvPicPr>
        <p:blipFill>
          <a:blip r:embed="rId4"/>
          <a:stretch>
            <a:fillRect/>
          </a:stretch>
        </p:blipFill>
        <p:spPr>
          <a:xfrm>
            <a:off x="11320272" y="155448"/>
            <a:ext cx="749808" cy="749808"/>
          </a:xfrm>
          <a:prstGeom prst="rect">
            <a:avLst/>
          </a:prstGeom>
        </p:spPr>
      </p:pic>
      <p:sp>
        <p:nvSpPr>
          <p:cNvPr id="13" name="Shape 9"/>
          <p:cNvSpPr/>
          <p:nvPr/>
        </p:nvSpPr>
        <p:spPr>
          <a:xfrm>
            <a:off x="0" y="6583680"/>
            <a:ext cx="12191695" cy="274320"/>
          </a:xfrm>
          <a:prstGeom prst="rect">
            <a:avLst/>
          </a:prstGeom>
          <a:solidFill>
            <a:srgbClr val="253E85"/>
          </a:solidFill>
          <a:ln/>
        </p:spPr>
        <p:txBody>
          <a:bodyPr/>
          <a:lstStyle/>
          <a:p>
            <a:endParaRPr lang="en-US"/>
          </a:p>
        </p:txBody>
      </p:sp>
      <p:pic>
        <p:nvPicPr>
          <p:cNvPr id="14" name="Image 2" descr="bcsom_horiz_white_footer.png"/>
          <p:cNvPicPr>
            <a:picLocks noChangeAspect="1"/>
          </p:cNvPicPr>
          <p:nvPr/>
        </p:nvPicPr>
        <p:blipFill>
          <a:blip r:embed="rId5"/>
          <a:stretch>
            <a:fillRect/>
          </a:stretch>
        </p:blipFill>
        <p:spPr>
          <a:xfrm>
            <a:off x="274320" y="6629400"/>
            <a:ext cx="526694" cy="181051"/>
          </a:xfrm>
          <a:prstGeom prst="rect">
            <a:avLst/>
          </a:prstGeom>
        </p:spPr>
      </p:pic>
      <p:sp>
        <p:nvSpPr>
          <p:cNvPr id="15" name="Text 10"/>
          <p:cNvSpPr txBox="1"/>
          <p:nvPr/>
        </p:nvSpPr>
        <p:spPr>
          <a:xfrm>
            <a:off x="914400" y="6583680"/>
            <a:ext cx="8412480" cy="274320"/>
          </a:xfrm>
          <a:prstGeom prst="rect">
            <a:avLst/>
          </a:prstGeom>
          <a:noFill/>
          <a:ln/>
        </p:spPr>
        <p:txBody>
          <a:bodyPr wrap="square" lIns="0" tIns="0" rIns="0" bIns="0" rtlCol="0" anchor="ctr"/>
          <a:lstStyle/>
          <a:p>
            <a:pPr marL="0" indent="0">
              <a:buNone/>
            </a:pPr>
            <a:r>
              <a:rPr lang="en-US" sz="780" dirty="0">
                <a:solidFill>
                  <a:srgbClr val="C9D2EC"/>
                </a:solidFill>
                <a:latin typeface="Calibri" pitchFamily="34" charset="0"/>
                <a:ea typeface="Calibri" pitchFamily="34" charset="-122"/>
                <a:cs typeface="Calibri" pitchFamily="34" charset="-120"/>
              </a:rPr>
              <a:t>ANESTHESIOLOGY® 2026 · San Diego, CA · Abstract A1325 · Session 08.5 Equipment, Monitoring, and Engineering Technology – Machine Learning/AI</a:t>
            </a:r>
            <a:endParaRPr lang="en-US" sz="780" dirty="0"/>
          </a:p>
        </p:txBody>
      </p:sp>
      <p:sp>
        <p:nvSpPr>
          <p:cNvPr id="16" name="Text 11"/>
          <p:cNvSpPr txBox="1"/>
          <p:nvPr/>
        </p:nvSpPr>
        <p:spPr>
          <a:xfrm>
            <a:off x="9326880" y="6583680"/>
            <a:ext cx="2587752" cy="274320"/>
          </a:xfrm>
          <a:prstGeom prst="rect">
            <a:avLst/>
          </a:prstGeom>
          <a:noFill/>
          <a:ln/>
        </p:spPr>
        <p:txBody>
          <a:bodyPr wrap="square" lIns="0" tIns="0" rIns="0" bIns="0" rtlCol="0" anchor="ctr"/>
          <a:lstStyle/>
          <a:p>
            <a:pPr marL="0" indent="0" algn="r">
              <a:buNone/>
            </a:pPr>
            <a:r>
              <a:rPr lang="en-US" sz="780" dirty="0">
                <a:solidFill>
                  <a:srgbClr val="C9D2EC"/>
                </a:solidFill>
                <a:latin typeface="Calibri" pitchFamily="34" charset="0"/>
                <a:ea typeface="Calibri" pitchFamily="34" charset="-122"/>
                <a:cs typeface="Calibri" pitchFamily="34" charset="-120"/>
              </a:rPr>
              <a:t>Control #26-SA-9624-ASAHQ</a:t>
            </a:r>
            <a:endParaRPr lang="en-US" sz="780" dirty="0"/>
          </a:p>
        </p:txBody>
      </p:sp>
      <p:sp>
        <p:nvSpPr>
          <p:cNvPr id="17" name="Shape 12"/>
          <p:cNvSpPr/>
          <p:nvPr/>
        </p:nvSpPr>
        <p:spPr>
          <a:xfrm>
            <a:off x="274320" y="1234440"/>
            <a:ext cx="3163824" cy="1188720"/>
          </a:xfrm>
          <a:prstGeom prst="roundRect">
            <a:avLst>
              <a:gd name="adj" fmla="val 3077"/>
            </a:avLst>
          </a:prstGeom>
          <a:solidFill>
            <a:srgbClr val="FFFFFF"/>
          </a:solidFill>
          <a:ln w="9525">
            <a:solidFill>
              <a:srgbClr val="D7DBE8"/>
            </a:solidFill>
            <a:prstDash val="solid"/>
          </a:ln>
        </p:spPr>
        <p:txBody>
          <a:bodyPr/>
          <a:lstStyle/>
          <a:p>
            <a:endParaRPr lang="en-US"/>
          </a:p>
        </p:txBody>
      </p:sp>
      <p:sp>
        <p:nvSpPr>
          <p:cNvPr id="18" name="Text 13"/>
          <p:cNvSpPr txBox="1"/>
          <p:nvPr/>
        </p:nvSpPr>
        <p:spPr>
          <a:xfrm>
            <a:off x="384048" y="1298448"/>
            <a:ext cx="2944368"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BACKGROUND</a:t>
            </a:r>
            <a:endParaRPr lang="en-US" sz="1000" dirty="0"/>
          </a:p>
        </p:txBody>
      </p:sp>
      <p:sp>
        <p:nvSpPr>
          <p:cNvPr id="19" name="Shape 14"/>
          <p:cNvSpPr/>
          <p:nvPr/>
        </p:nvSpPr>
        <p:spPr>
          <a:xfrm>
            <a:off x="384048" y="1481328"/>
            <a:ext cx="2944368" cy="20117"/>
          </a:xfrm>
          <a:prstGeom prst="rect">
            <a:avLst/>
          </a:prstGeom>
          <a:solidFill>
            <a:srgbClr val="BD9B70"/>
          </a:solidFill>
          <a:ln/>
        </p:spPr>
        <p:txBody>
          <a:bodyPr/>
          <a:lstStyle/>
          <a:p>
            <a:endParaRPr lang="en-US"/>
          </a:p>
        </p:txBody>
      </p:sp>
      <p:sp>
        <p:nvSpPr>
          <p:cNvPr id="20" name="Text 15"/>
          <p:cNvSpPr txBox="1"/>
          <p:nvPr/>
        </p:nvSpPr>
        <p:spPr>
          <a:xfrm>
            <a:off x="384048" y="1515172"/>
            <a:ext cx="2944368" cy="777240"/>
          </a:xfrm>
          <a:prstGeom prst="rect">
            <a:avLst/>
          </a:prstGeom>
          <a:noFill/>
          <a:ln/>
        </p:spPr>
        <p:txBody>
          <a:bodyPr wrap="square" lIns="0" tIns="0" rIns="0" bIns="0" rtlCol="0" anchor="t"/>
          <a:lstStyle/>
          <a:p>
            <a:pPr marL="0" indent="0">
              <a:lnSpc>
                <a:spcPct val="108000"/>
              </a:lnSpc>
              <a:buNone/>
            </a:pPr>
            <a:r>
              <a:rPr lang="en-US" sz="725" dirty="0">
                <a:solidFill>
                  <a:srgbClr val="231F20"/>
                </a:solidFill>
                <a:latin typeface="Calibri" pitchFamily="34" charset="0"/>
                <a:ea typeface="Calibri" pitchFamily="34" charset="-122"/>
                <a:cs typeface="Calibri" pitchFamily="34" charset="-120"/>
              </a:rPr>
              <a:t>In the traditional software development pipeline, software engineering expertise often represents a bottleneck between ideation and a working prototype. Large language models (LLMs) have lowered this barrier, enabling end users, including clinicians, to translate novel ideas into functional applications tailored to their workflows through an emerging practice sometimes termed </a:t>
            </a:r>
            <a:r>
              <a:rPr lang="en-US" sz="725" b="1" dirty="0">
                <a:solidFill>
                  <a:srgbClr val="231F20"/>
                </a:solidFill>
                <a:latin typeface="Calibri" pitchFamily="34" charset="0"/>
                <a:ea typeface="Calibri" pitchFamily="34" charset="-122"/>
                <a:cs typeface="Calibri" pitchFamily="34" charset="-120"/>
              </a:rPr>
              <a:t>“vibe coding.”</a:t>
            </a:r>
            <a:r>
              <a:rPr lang="en-US" sz="725" dirty="0">
                <a:solidFill>
                  <a:srgbClr val="231F20"/>
                </a:solidFill>
                <a:latin typeface="Calibri" pitchFamily="34" charset="0"/>
                <a:ea typeface="Calibri" pitchFamily="34" charset="-122"/>
                <a:cs typeface="Calibri" pitchFamily="34" charset="-120"/>
              </a:rPr>
              <a:t> The following workflow was used to develop an iOS application providing point-of-care anesthetic reference values.</a:t>
            </a:r>
            <a:endParaRPr lang="en-US" sz="725" dirty="0"/>
          </a:p>
        </p:txBody>
      </p:sp>
      <p:sp>
        <p:nvSpPr>
          <p:cNvPr id="21" name="Shape 16"/>
          <p:cNvSpPr/>
          <p:nvPr/>
        </p:nvSpPr>
        <p:spPr>
          <a:xfrm>
            <a:off x="301752" y="2596033"/>
            <a:ext cx="3163824" cy="3026664"/>
          </a:xfrm>
          <a:prstGeom prst="roundRect">
            <a:avLst>
              <a:gd name="adj" fmla="val 1208"/>
            </a:avLst>
          </a:prstGeom>
          <a:solidFill>
            <a:srgbClr val="FFFFFF"/>
          </a:solidFill>
          <a:ln w="9525">
            <a:solidFill>
              <a:srgbClr val="D7DBE8"/>
            </a:solidFill>
            <a:prstDash val="solid"/>
          </a:ln>
        </p:spPr>
        <p:txBody>
          <a:bodyPr/>
          <a:lstStyle/>
          <a:p>
            <a:endParaRPr lang="en-US" dirty="0"/>
          </a:p>
        </p:txBody>
      </p:sp>
      <p:sp>
        <p:nvSpPr>
          <p:cNvPr id="22" name="Text 17"/>
          <p:cNvSpPr txBox="1"/>
          <p:nvPr/>
        </p:nvSpPr>
        <p:spPr>
          <a:xfrm>
            <a:off x="384048" y="2596896"/>
            <a:ext cx="2944368"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DEVELOPMENT WORKFLOW</a:t>
            </a:r>
            <a:endParaRPr lang="en-US" sz="1000" dirty="0"/>
          </a:p>
        </p:txBody>
      </p:sp>
      <p:sp>
        <p:nvSpPr>
          <p:cNvPr id="23" name="Shape 18"/>
          <p:cNvSpPr/>
          <p:nvPr/>
        </p:nvSpPr>
        <p:spPr>
          <a:xfrm>
            <a:off x="384048" y="2779776"/>
            <a:ext cx="2944368" cy="20117"/>
          </a:xfrm>
          <a:prstGeom prst="rect">
            <a:avLst/>
          </a:prstGeom>
          <a:solidFill>
            <a:srgbClr val="BD9B70"/>
          </a:solidFill>
          <a:ln/>
        </p:spPr>
        <p:txBody>
          <a:bodyPr/>
          <a:lstStyle/>
          <a:p>
            <a:endParaRPr lang="en-US"/>
          </a:p>
        </p:txBody>
      </p:sp>
      <p:sp>
        <p:nvSpPr>
          <p:cNvPr id="24" name="Text 19"/>
          <p:cNvSpPr txBox="1"/>
          <p:nvPr/>
        </p:nvSpPr>
        <p:spPr>
          <a:xfrm>
            <a:off x="420624" y="2834640"/>
            <a:ext cx="2871216" cy="146304"/>
          </a:xfrm>
          <a:prstGeom prst="rect">
            <a:avLst/>
          </a:prstGeom>
          <a:noFill/>
          <a:ln/>
        </p:spPr>
        <p:txBody>
          <a:bodyPr wrap="square" lIns="0" tIns="0" rIns="0" bIns="0" rtlCol="0" anchor="t"/>
          <a:lstStyle/>
          <a:p>
            <a:pPr marL="0" indent="0">
              <a:buNone/>
            </a:pPr>
            <a:r>
              <a:rPr lang="en-US" sz="700" i="1" dirty="0">
                <a:solidFill>
                  <a:srgbClr val="5A6176"/>
                </a:solidFill>
                <a:latin typeface="Calibri" pitchFamily="34" charset="0"/>
                <a:ea typeface="Calibri" pitchFamily="34" charset="-122"/>
                <a:cs typeface="Calibri" pitchFamily="34" charset="-120"/>
              </a:rPr>
              <a:t>An iterative build loop with the AI assistant</a:t>
            </a:r>
            <a:endParaRPr lang="en-US" sz="700" dirty="0"/>
          </a:p>
        </p:txBody>
      </p:sp>
      <p:sp>
        <p:nvSpPr>
          <p:cNvPr id="25" name="Shape 20"/>
          <p:cNvSpPr/>
          <p:nvPr/>
        </p:nvSpPr>
        <p:spPr>
          <a:xfrm>
            <a:off x="420624" y="2999232"/>
            <a:ext cx="1450404" cy="297180"/>
          </a:xfrm>
          <a:prstGeom prst="roundRect">
            <a:avLst>
              <a:gd name="adj" fmla="val 15385"/>
            </a:avLst>
          </a:prstGeom>
          <a:solidFill>
            <a:srgbClr val="FFFFFF"/>
          </a:solidFill>
          <a:ln w="9525">
            <a:solidFill>
              <a:srgbClr val="D7DBE8"/>
            </a:solidFill>
            <a:prstDash val="solid"/>
          </a:ln>
        </p:spPr>
        <p:txBody>
          <a:bodyPr/>
          <a:lstStyle/>
          <a:p>
            <a:endParaRPr lang="en-US"/>
          </a:p>
        </p:txBody>
      </p:sp>
      <p:sp>
        <p:nvSpPr>
          <p:cNvPr id="26" name="Shape 21"/>
          <p:cNvSpPr/>
          <p:nvPr/>
        </p:nvSpPr>
        <p:spPr>
          <a:xfrm>
            <a:off x="493776" y="3056382"/>
            <a:ext cx="182880" cy="182880"/>
          </a:xfrm>
          <a:prstGeom prst="ellipse">
            <a:avLst/>
          </a:prstGeom>
          <a:solidFill>
            <a:srgbClr val="253E85"/>
          </a:solidFill>
          <a:ln/>
        </p:spPr>
        <p:txBody>
          <a:bodyPr/>
          <a:lstStyle/>
          <a:p>
            <a:endParaRPr lang="en-US"/>
          </a:p>
        </p:txBody>
      </p:sp>
      <p:sp>
        <p:nvSpPr>
          <p:cNvPr id="27" name="Text 22"/>
          <p:cNvSpPr txBox="1"/>
          <p:nvPr/>
        </p:nvSpPr>
        <p:spPr>
          <a:xfrm>
            <a:off x="493776" y="3056382"/>
            <a:ext cx="18288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1</a:t>
            </a:r>
            <a:endParaRPr lang="en-US" sz="700" dirty="0"/>
          </a:p>
        </p:txBody>
      </p:sp>
      <p:sp>
        <p:nvSpPr>
          <p:cNvPr id="28" name="Text 23"/>
          <p:cNvSpPr txBox="1"/>
          <p:nvPr/>
        </p:nvSpPr>
        <p:spPr>
          <a:xfrm>
            <a:off x="731520" y="3026664"/>
            <a:ext cx="1240345" cy="242316"/>
          </a:xfrm>
          <a:prstGeom prst="rect">
            <a:avLst/>
          </a:prstGeom>
          <a:noFill/>
          <a:ln/>
        </p:spPr>
        <p:txBody>
          <a:bodyPr wrap="square" lIns="0" tIns="0" rIns="0" bIns="0" rtlCol="0" anchor="ctr"/>
          <a:lstStyle/>
          <a:p>
            <a:pPr marL="0" indent="0">
              <a:lnSpc>
                <a:spcPct val="95000"/>
              </a:lnSpc>
              <a:buNone/>
            </a:pPr>
            <a:r>
              <a:rPr lang="en-US" sz="730" b="1" dirty="0">
                <a:solidFill>
                  <a:srgbClr val="253E85"/>
                </a:solidFill>
                <a:latin typeface="Calibri" pitchFamily="34" charset="0"/>
                <a:ea typeface="Calibri" pitchFamily="34" charset="-122"/>
                <a:cs typeface="Calibri" pitchFamily="34" charset="-120"/>
              </a:rPr>
              <a:t>Think of an application
</a:t>
            </a:r>
            <a:r>
              <a:rPr lang="en-US" sz="640" dirty="0">
                <a:solidFill>
                  <a:srgbClr val="5A6176"/>
                </a:solidFill>
                <a:latin typeface="Calibri" pitchFamily="34" charset="0"/>
                <a:ea typeface="Calibri" pitchFamily="34" charset="-122"/>
                <a:cs typeface="Calibri" pitchFamily="34" charset="-120"/>
              </a:rPr>
              <a:t>User forms the idea</a:t>
            </a:r>
            <a:endParaRPr lang="en-US" sz="730" dirty="0"/>
          </a:p>
        </p:txBody>
      </p:sp>
      <p:sp>
        <p:nvSpPr>
          <p:cNvPr id="29" name="Shape 24"/>
          <p:cNvSpPr/>
          <p:nvPr/>
        </p:nvSpPr>
        <p:spPr>
          <a:xfrm>
            <a:off x="585216" y="3296412"/>
            <a:ext cx="18288" cy="32004"/>
          </a:xfrm>
          <a:prstGeom prst="rect">
            <a:avLst/>
          </a:prstGeom>
          <a:solidFill>
            <a:srgbClr val="D7DBE8"/>
          </a:solidFill>
          <a:ln/>
        </p:spPr>
        <p:txBody>
          <a:bodyPr/>
          <a:lstStyle/>
          <a:p>
            <a:endParaRPr lang="en-US"/>
          </a:p>
        </p:txBody>
      </p:sp>
      <p:sp>
        <p:nvSpPr>
          <p:cNvPr id="30" name="Shape 25"/>
          <p:cNvSpPr/>
          <p:nvPr/>
        </p:nvSpPr>
        <p:spPr>
          <a:xfrm rot="10800000">
            <a:off x="548640" y="3319272"/>
            <a:ext cx="91440" cy="50292"/>
          </a:xfrm>
          <a:prstGeom prst="triangle">
            <a:avLst/>
          </a:prstGeom>
          <a:solidFill>
            <a:srgbClr val="D7DBE8"/>
          </a:solidFill>
          <a:ln/>
        </p:spPr>
        <p:txBody>
          <a:bodyPr/>
          <a:lstStyle/>
          <a:p>
            <a:endParaRPr lang="en-US"/>
          </a:p>
        </p:txBody>
      </p:sp>
      <p:sp>
        <p:nvSpPr>
          <p:cNvPr id="31" name="Shape 26"/>
          <p:cNvSpPr/>
          <p:nvPr/>
        </p:nvSpPr>
        <p:spPr>
          <a:xfrm>
            <a:off x="420624" y="3360420"/>
            <a:ext cx="1450404" cy="297180"/>
          </a:xfrm>
          <a:prstGeom prst="roundRect">
            <a:avLst>
              <a:gd name="adj" fmla="val 15385"/>
            </a:avLst>
          </a:prstGeom>
          <a:solidFill>
            <a:srgbClr val="FFFFFF"/>
          </a:solidFill>
          <a:ln w="9525">
            <a:solidFill>
              <a:srgbClr val="D7DBE8"/>
            </a:solidFill>
            <a:prstDash val="solid"/>
          </a:ln>
        </p:spPr>
        <p:txBody>
          <a:bodyPr/>
          <a:lstStyle/>
          <a:p>
            <a:endParaRPr lang="en-US"/>
          </a:p>
        </p:txBody>
      </p:sp>
      <p:sp>
        <p:nvSpPr>
          <p:cNvPr id="32" name="Shape 27"/>
          <p:cNvSpPr/>
          <p:nvPr/>
        </p:nvSpPr>
        <p:spPr>
          <a:xfrm>
            <a:off x="493776" y="3417570"/>
            <a:ext cx="182880" cy="182880"/>
          </a:xfrm>
          <a:prstGeom prst="ellipse">
            <a:avLst/>
          </a:prstGeom>
          <a:solidFill>
            <a:srgbClr val="253E85"/>
          </a:solidFill>
          <a:ln/>
        </p:spPr>
        <p:txBody>
          <a:bodyPr/>
          <a:lstStyle/>
          <a:p>
            <a:endParaRPr lang="en-US"/>
          </a:p>
        </p:txBody>
      </p:sp>
      <p:sp>
        <p:nvSpPr>
          <p:cNvPr id="33" name="Text 28"/>
          <p:cNvSpPr txBox="1"/>
          <p:nvPr/>
        </p:nvSpPr>
        <p:spPr>
          <a:xfrm>
            <a:off x="493776" y="3417570"/>
            <a:ext cx="18288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2</a:t>
            </a:r>
            <a:endParaRPr lang="en-US" sz="700" dirty="0"/>
          </a:p>
        </p:txBody>
      </p:sp>
      <p:sp>
        <p:nvSpPr>
          <p:cNvPr id="34" name="Text 29"/>
          <p:cNvSpPr txBox="1"/>
          <p:nvPr/>
        </p:nvSpPr>
        <p:spPr>
          <a:xfrm>
            <a:off x="731520" y="3387852"/>
            <a:ext cx="1240345" cy="242316"/>
          </a:xfrm>
          <a:prstGeom prst="rect">
            <a:avLst/>
          </a:prstGeom>
          <a:noFill/>
          <a:ln/>
        </p:spPr>
        <p:txBody>
          <a:bodyPr wrap="square" lIns="0" tIns="0" rIns="0" bIns="0" rtlCol="0" anchor="ctr"/>
          <a:lstStyle/>
          <a:p>
            <a:pPr marL="0" indent="0">
              <a:lnSpc>
                <a:spcPct val="95000"/>
              </a:lnSpc>
              <a:buNone/>
            </a:pPr>
            <a:r>
              <a:rPr lang="en-US" sz="730" b="1" dirty="0">
                <a:solidFill>
                  <a:srgbClr val="253E85"/>
                </a:solidFill>
                <a:latin typeface="Calibri" pitchFamily="34" charset="0"/>
                <a:ea typeface="Calibri" pitchFamily="34" charset="-122"/>
                <a:cs typeface="Calibri" pitchFamily="34" charset="-120"/>
              </a:rPr>
              <a:t>Define constraints
</a:t>
            </a:r>
            <a:r>
              <a:rPr lang="en-US" sz="640" dirty="0">
                <a:solidFill>
                  <a:srgbClr val="5A6176"/>
                </a:solidFill>
                <a:latin typeface="Calibri" pitchFamily="34" charset="0"/>
                <a:ea typeface="Calibri" pitchFamily="34" charset="-122"/>
                <a:cs typeface="Calibri" pitchFamily="34" charset="-120"/>
              </a:rPr>
              <a:t>User gives the AI requirements</a:t>
            </a:r>
            <a:endParaRPr lang="en-US" sz="730" dirty="0"/>
          </a:p>
        </p:txBody>
      </p:sp>
      <p:sp>
        <p:nvSpPr>
          <p:cNvPr id="35" name="Shape 30"/>
          <p:cNvSpPr/>
          <p:nvPr/>
        </p:nvSpPr>
        <p:spPr>
          <a:xfrm>
            <a:off x="585216" y="3657600"/>
            <a:ext cx="18288" cy="32004"/>
          </a:xfrm>
          <a:prstGeom prst="rect">
            <a:avLst/>
          </a:prstGeom>
          <a:solidFill>
            <a:srgbClr val="D7DBE8"/>
          </a:solidFill>
          <a:ln/>
        </p:spPr>
        <p:txBody>
          <a:bodyPr/>
          <a:lstStyle/>
          <a:p>
            <a:endParaRPr lang="en-US"/>
          </a:p>
        </p:txBody>
      </p:sp>
      <p:sp>
        <p:nvSpPr>
          <p:cNvPr id="36" name="Shape 31"/>
          <p:cNvSpPr/>
          <p:nvPr/>
        </p:nvSpPr>
        <p:spPr>
          <a:xfrm rot="10800000">
            <a:off x="548640" y="3680460"/>
            <a:ext cx="91440" cy="50292"/>
          </a:xfrm>
          <a:prstGeom prst="triangle">
            <a:avLst/>
          </a:prstGeom>
          <a:solidFill>
            <a:srgbClr val="D7DBE8"/>
          </a:solidFill>
          <a:ln/>
        </p:spPr>
        <p:txBody>
          <a:bodyPr/>
          <a:lstStyle/>
          <a:p>
            <a:endParaRPr lang="en-US"/>
          </a:p>
        </p:txBody>
      </p:sp>
      <p:sp>
        <p:nvSpPr>
          <p:cNvPr id="37" name="Shape 32"/>
          <p:cNvSpPr/>
          <p:nvPr/>
        </p:nvSpPr>
        <p:spPr>
          <a:xfrm>
            <a:off x="420624" y="3721608"/>
            <a:ext cx="1450404" cy="297180"/>
          </a:xfrm>
          <a:prstGeom prst="roundRect">
            <a:avLst>
              <a:gd name="adj" fmla="val 15385"/>
            </a:avLst>
          </a:prstGeom>
          <a:solidFill>
            <a:srgbClr val="FFFFFF"/>
          </a:solidFill>
          <a:ln w="9525">
            <a:solidFill>
              <a:srgbClr val="D7DBE8"/>
            </a:solidFill>
            <a:prstDash val="solid"/>
          </a:ln>
        </p:spPr>
        <p:txBody>
          <a:bodyPr/>
          <a:lstStyle/>
          <a:p>
            <a:endParaRPr lang="en-US"/>
          </a:p>
        </p:txBody>
      </p:sp>
      <p:sp>
        <p:nvSpPr>
          <p:cNvPr id="40" name="Text 35"/>
          <p:cNvSpPr txBox="1"/>
          <p:nvPr/>
        </p:nvSpPr>
        <p:spPr>
          <a:xfrm>
            <a:off x="731520" y="3749040"/>
            <a:ext cx="1240345" cy="242316"/>
          </a:xfrm>
          <a:prstGeom prst="rect">
            <a:avLst/>
          </a:prstGeom>
          <a:noFill/>
          <a:ln/>
        </p:spPr>
        <p:txBody>
          <a:bodyPr wrap="square" lIns="0" tIns="0" rIns="0" bIns="0" rtlCol="0" anchor="ctr"/>
          <a:lstStyle/>
          <a:p>
            <a:pPr marL="0" indent="0">
              <a:lnSpc>
                <a:spcPct val="95000"/>
              </a:lnSpc>
              <a:buNone/>
            </a:pPr>
            <a:r>
              <a:rPr lang="en-US" sz="730" b="1" dirty="0">
                <a:solidFill>
                  <a:srgbClr val="253E85"/>
                </a:solidFill>
                <a:latin typeface="Calibri" pitchFamily="34" charset="0"/>
                <a:ea typeface="Calibri" pitchFamily="34" charset="-122"/>
                <a:cs typeface="Calibri" pitchFamily="34" charset="-120"/>
              </a:rPr>
              <a:t>Create a prototype
</a:t>
            </a:r>
            <a:r>
              <a:rPr lang="en-US" sz="640" dirty="0">
                <a:solidFill>
                  <a:srgbClr val="5A6176"/>
                </a:solidFill>
                <a:latin typeface="Calibri" pitchFamily="34" charset="0"/>
                <a:ea typeface="Calibri" pitchFamily="34" charset="-122"/>
                <a:cs typeface="Calibri" pitchFamily="34" charset="-120"/>
              </a:rPr>
              <a:t>AI builds a first version</a:t>
            </a:r>
            <a:endParaRPr lang="en-US" sz="730" dirty="0"/>
          </a:p>
        </p:txBody>
      </p:sp>
      <p:sp>
        <p:nvSpPr>
          <p:cNvPr id="41" name="Shape 36"/>
          <p:cNvSpPr/>
          <p:nvPr/>
        </p:nvSpPr>
        <p:spPr>
          <a:xfrm>
            <a:off x="585216" y="4018788"/>
            <a:ext cx="18288" cy="32004"/>
          </a:xfrm>
          <a:prstGeom prst="rect">
            <a:avLst/>
          </a:prstGeom>
          <a:solidFill>
            <a:srgbClr val="D7DBE8"/>
          </a:solidFill>
          <a:ln/>
        </p:spPr>
        <p:txBody>
          <a:bodyPr/>
          <a:lstStyle/>
          <a:p>
            <a:endParaRPr lang="en-US"/>
          </a:p>
        </p:txBody>
      </p:sp>
      <p:sp>
        <p:nvSpPr>
          <p:cNvPr id="42" name="Shape 37"/>
          <p:cNvSpPr/>
          <p:nvPr/>
        </p:nvSpPr>
        <p:spPr>
          <a:xfrm rot="10800000">
            <a:off x="548640" y="4041648"/>
            <a:ext cx="91440" cy="50292"/>
          </a:xfrm>
          <a:prstGeom prst="triangle">
            <a:avLst/>
          </a:prstGeom>
          <a:solidFill>
            <a:srgbClr val="D7DBE8"/>
          </a:solidFill>
          <a:ln/>
        </p:spPr>
        <p:txBody>
          <a:bodyPr/>
          <a:lstStyle/>
          <a:p>
            <a:endParaRPr lang="en-US"/>
          </a:p>
        </p:txBody>
      </p:sp>
      <p:sp>
        <p:nvSpPr>
          <p:cNvPr id="43" name="Shape 38"/>
          <p:cNvSpPr/>
          <p:nvPr/>
        </p:nvSpPr>
        <p:spPr>
          <a:xfrm>
            <a:off x="420624" y="4082796"/>
            <a:ext cx="1450404" cy="297180"/>
          </a:xfrm>
          <a:prstGeom prst="roundRect">
            <a:avLst>
              <a:gd name="adj" fmla="val 15385"/>
            </a:avLst>
          </a:prstGeom>
          <a:solidFill>
            <a:srgbClr val="F3EEE6"/>
          </a:solidFill>
          <a:ln w="13970">
            <a:solidFill>
              <a:srgbClr val="BD9B70"/>
            </a:solidFill>
            <a:prstDash val="solid"/>
          </a:ln>
        </p:spPr>
        <p:txBody>
          <a:bodyPr/>
          <a:lstStyle/>
          <a:p>
            <a:endParaRPr lang="en-US"/>
          </a:p>
        </p:txBody>
      </p:sp>
      <p:sp>
        <p:nvSpPr>
          <p:cNvPr id="44" name="Shape 39"/>
          <p:cNvSpPr/>
          <p:nvPr/>
        </p:nvSpPr>
        <p:spPr>
          <a:xfrm>
            <a:off x="493776" y="4139946"/>
            <a:ext cx="182880" cy="182880"/>
          </a:xfrm>
          <a:prstGeom prst="ellipse">
            <a:avLst/>
          </a:prstGeom>
          <a:solidFill>
            <a:srgbClr val="253E85"/>
          </a:solidFill>
          <a:ln/>
        </p:spPr>
        <p:txBody>
          <a:bodyPr/>
          <a:lstStyle/>
          <a:p>
            <a:endParaRPr lang="en-US"/>
          </a:p>
        </p:txBody>
      </p:sp>
      <p:sp>
        <p:nvSpPr>
          <p:cNvPr id="45" name="Text 40"/>
          <p:cNvSpPr txBox="1"/>
          <p:nvPr/>
        </p:nvSpPr>
        <p:spPr>
          <a:xfrm>
            <a:off x="493776" y="4139946"/>
            <a:ext cx="18288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4</a:t>
            </a:r>
            <a:endParaRPr lang="en-US" sz="700" dirty="0"/>
          </a:p>
        </p:txBody>
      </p:sp>
      <p:sp>
        <p:nvSpPr>
          <p:cNvPr id="46" name="Text 41"/>
          <p:cNvSpPr txBox="1"/>
          <p:nvPr/>
        </p:nvSpPr>
        <p:spPr>
          <a:xfrm>
            <a:off x="731520" y="4110228"/>
            <a:ext cx="1240345" cy="242316"/>
          </a:xfrm>
          <a:prstGeom prst="rect">
            <a:avLst/>
          </a:prstGeom>
          <a:noFill/>
          <a:ln/>
        </p:spPr>
        <p:txBody>
          <a:bodyPr wrap="square" lIns="0" tIns="0" rIns="0" bIns="0" rtlCol="0" anchor="ctr"/>
          <a:lstStyle/>
          <a:p>
            <a:pPr marL="0" indent="0">
              <a:lnSpc>
                <a:spcPct val="95000"/>
              </a:lnSpc>
              <a:buNone/>
            </a:pPr>
            <a:r>
              <a:rPr lang="en-US" sz="730" b="1" dirty="0">
                <a:solidFill>
                  <a:srgbClr val="253E85"/>
                </a:solidFill>
                <a:latin typeface="Calibri" pitchFamily="34" charset="0"/>
                <a:ea typeface="Calibri" pitchFamily="34" charset="-122"/>
                <a:cs typeface="Calibri" pitchFamily="34" charset="-120"/>
              </a:rPr>
              <a:t>Test the prototype
</a:t>
            </a:r>
            <a:r>
              <a:rPr lang="en-US" sz="640" dirty="0">
                <a:solidFill>
                  <a:srgbClr val="5A6176"/>
                </a:solidFill>
                <a:latin typeface="Calibri" pitchFamily="34" charset="0"/>
                <a:ea typeface="Calibri" pitchFamily="34" charset="-122"/>
                <a:cs typeface="Calibri" pitchFamily="34" charset="-120"/>
              </a:rPr>
              <a:t>Try it, gather feedback</a:t>
            </a:r>
            <a:endParaRPr lang="en-US" sz="730" dirty="0"/>
          </a:p>
        </p:txBody>
      </p:sp>
      <p:sp>
        <p:nvSpPr>
          <p:cNvPr id="47" name="Shape 42"/>
          <p:cNvSpPr/>
          <p:nvPr/>
        </p:nvSpPr>
        <p:spPr>
          <a:xfrm>
            <a:off x="585216" y="4379976"/>
            <a:ext cx="18288" cy="32004"/>
          </a:xfrm>
          <a:prstGeom prst="rect">
            <a:avLst/>
          </a:prstGeom>
          <a:solidFill>
            <a:srgbClr val="D7DBE8"/>
          </a:solidFill>
          <a:ln/>
        </p:spPr>
        <p:txBody>
          <a:bodyPr/>
          <a:lstStyle/>
          <a:p>
            <a:endParaRPr lang="en-US"/>
          </a:p>
        </p:txBody>
      </p:sp>
      <p:sp>
        <p:nvSpPr>
          <p:cNvPr id="48" name="Shape 43"/>
          <p:cNvSpPr/>
          <p:nvPr/>
        </p:nvSpPr>
        <p:spPr>
          <a:xfrm rot="10800000">
            <a:off x="548640" y="4402836"/>
            <a:ext cx="91440" cy="50292"/>
          </a:xfrm>
          <a:prstGeom prst="triangle">
            <a:avLst/>
          </a:prstGeom>
          <a:solidFill>
            <a:srgbClr val="D7DBE8"/>
          </a:solidFill>
          <a:ln/>
        </p:spPr>
        <p:txBody>
          <a:bodyPr/>
          <a:lstStyle/>
          <a:p>
            <a:endParaRPr lang="en-US"/>
          </a:p>
        </p:txBody>
      </p:sp>
      <p:sp>
        <p:nvSpPr>
          <p:cNvPr id="49" name="Shape 44"/>
          <p:cNvSpPr/>
          <p:nvPr/>
        </p:nvSpPr>
        <p:spPr>
          <a:xfrm>
            <a:off x="420624" y="4443984"/>
            <a:ext cx="1450404" cy="297180"/>
          </a:xfrm>
          <a:prstGeom prst="roundRect">
            <a:avLst>
              <a:gd name="adj" fmla="val 15385"/>
            </a:avLst>
          </a:prstGeom>
          <a:solidFill>
            <a:srgbClr val="F3EEE6"/>
          </a:solidFill>
          <a:ln w="13970">
            <a:solidFill>
              <a:srgbClr val="BD9B70"/>
            </a:solidFill>
            <a:prstDash val="solid"/>
          </a:ln>
        </p:spPr>
        <p:txBody>
          <a:bodyPr/>
          <a:lstStyle/>
          <a:p>
            <a:endParaRPr lang="en-US"/>
          </a:p>
        </p:txBody>
      </p:sp>
      <p:sp>
        <p:nvSpPr>
          <p:cNvPr id="50" name="Shape 45"/>
          <p:cNvSpPr/>
          <p:nvPr/>
        </p:nvSpPr>
        <p:spPr>
          <a:xfrm>
            <a:off x="493776" y="4501134"/>
            <a:ext cx="182880" cy="182880"/>
          </a:xfrm>
          <a:prstGeom prst="ellipse">
            <a:avLst/>
          </a:prstGeom>
          <a:solidFill>
            <a:srgbClr val="253E85"/>
          </a:solidFill>
          <a:ln/>
        </p:spPr>
        <p:txBody>
          <a:bodyPr/>
          <a:lstStyle/>
          <a:p>
            <a:endParaRPr lang="en-US"/>
          </a:p>
        </p:txBody>
      </p:sp>
      <p:sp>
        <p:nvSpPr>
          <p:cNvPr id="51" name="Text 46"/>
          <p:cNvSpPr txBox="1"/>
          <p:nvPr/>
        </p:nvSpPr>
        <p:spPr>
          <a:xfrm>
            <a:off x="493776" y="4501134"/>
            <a:ext cx="182880" cy="1828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5</a:t>
            </a:r>
            <a:endParaRPr lang="en-US" sz="700" dirty="0"/>
          </a:p>
        </p:txBody>
      </p:sp>
      <p:sp>
        <p:nvSpPr>
          <p:cNvPr id="52" name="Text 47"/>
          <p:cNvSpPr txBox="1"/>
          <p:nvPr/>
        </p:nvSpPr>
        <p:spPr>
          <a:xfrm>
            <a:off x="731520" y="4471416"/>
            <a:ext cx="1240345" cy="242316"/>
          </a:xfrm>
          <a:prstGeom prst="rect">
            <a:avLst/>
          </a:prstGeom>
          <a:noFill/>
          <a:ln/>
        </p:spPr>
        <p:txBody>
          <a:bodyPr wrap="square" lIns="0" tIns="0" rIns="0" bIns="0" rtlCol="0" anchor="ctr"/>
          <a:lstStyle/>
          <a:p>
            <a:pPr marL="0" indent="0">
              <a:lnSpc>
                <a:spcPct val="95000"/>
              </a:lnSpc>
              <a:buNone/>
            </a:pPr>
            <a:r>
              <a:rPr lang="en-US" sz="730" b="1" dirty="0">
                <a:solidFill>
                  <a:srgbClr val="253E85"/>
                </a:solidFill>
                <a:latin typeface="Calibri" pitchFamily="34" charset="0"/>
                <a:ea typeface="Calibri" pitchFamily="34" charset="-122"/>
                <a:cs typeface="Calibri" pitchFamily="34" charset="-120"/>
              </a:rPr>
              <a:t>Define new features
</a:t>
            </a:r>
            <a:r>
              <a:rPr lang="en-US" sz="640" dirty="0">
                <a:solidFill>
                  <a:srgbClr val="5A6176"/>
                </a:solidFill>
                <a:latin typeface="Calibri" pitchFamily="34" charset="0"/>
                <a:ea typeface="Calibri" pitchFamily="34" charset="-122"/>
                <a:cs typeface="Calibri" pitchFamily="34" charset="-120"/>
              </a:rPr>
              <a:t>Identify what to add</a:t>
            </a:r>
            <a:endParaRPr lang="en-US" sz="730" dirty="0"/>
          </a:p>
        </p:txBody>
      </p:sp>
      <p:sp>
        <p:nvSpPr>
          <p:cNvPr id="53" name="Shape 48"/>
          <p:cNvSpPr/>
          <p:nvPr/>
        </p:nvSpPr>
        <p:spPr>
          <a:xfrm>
            <a:off x="585216" y="4741164"/>
            <a:ext cx="18288" cy="32004"/>
          </a:xfrm>
          <a:prstGeom prst="rect">
            <a:avLst/>
          </a:prstGeom>
          <a:solidFill>
            <a:srgbClr val="D7DBE8"/>
          </a:solidFill>
          <a:ln/>
        </p:spPr>
        <p:txBody>
          <a:bodyPr/>
          <a:lstStyle/>
          <a:p>
            <a:endParaRPr lang="en-US"/>
          </a:p>
        </p:txBody>
      </p:sp>
      <p:sp>
        <p:nvSpPr>
          <p:cNvPr id="54" name="Shape 49"/>
          <p:cNvSpPr/>
          <p:nvPr/>
        </p:nvSpPr>
        <p:spPr>
          <a:xfrm rot="10800000">
            <a:off x="548640" y="4764024"/>
            <a:ext cx="91440" cy="50292"/>
          </a:xfrm>
          <a:prstGeom prst="triangle">
            <a:avLst/>
          </a:prstGeom>
          <a:solidFill>
            <a:srgbClr val="D7DBE8"/>
          </a:solidFill>
          <a:ln/>
        </p:spPr>
        <p:txBody>
          <a:bodyPr/>
          <a:lstStyle/>
          <a:p>
            <a:endParaRPr lang="en-US"/>
          </a:p>
        </p:txBody>
      </p:sp>
      <p:sp>
        <p:nvSpPr>
          <p:cNvPr id="55" name="Shape 50"/>
          <p:cNvSpPr/>
          <p:nvPr/>
        </p:nvSpPr>
        <p:spPr>
          <a:xfrm>
            <a:off x="420624" y="4805172"/>
            <a:ext cx="1450404" cy="297180"/>
          </a:xfrm>
          <a:prstGeom prst="roundRect">
            <a:avLst>
              <a:gd name="adj" fmla="val 15385"/>
            </a:avLst>
          </a:prstGeom>
          <a:solidFill>
            <a:srgbClr val="F3EEE6"/>
          </a:solidFill>
          <a:ln w="13970">
            <a:solidFill>
              <a:srgbClr val="BD9B70"/>
            </a:solidFill>
            <a:prstDash val="solid"/>
          </a:ln>
        </p:spPr>
        <p:txBody>
          <a:bodyPr/>
          <a:lstStyle/>
          <a:p>
            <a:endParaRPr lang="en-US"/>
          </a:p>
        </p:txBody>
      </p:sp>
      <p:sp>
        <p:nvSpPr>
          <p:cNvPr id="58" name="Text 53"/>
          <p:cNvSpPr txBox="1"/>
          <p:nvPr/>
        </p:nvSpPr>
        <p:spPr>
          <a:xfrm>
            <a:off x="731520" y="4832604"/>
            <a:ext cx="1240345" cy="242316"/>
          </a:xfrm>
          <a:prstGeom prst="rect">
            <a:avLst/>
          </a:prstGeom>
          <a:noFill/>
          <a:ln/>
        </p:spPr>
        <p:txBody>
          <a:bodyPr wrap="square" lIns="0" tIns="0" rIns="0" bIns="0" rtlCol="0" anchor="ctr"/>
          <a:lstStyle/>
          <a:p>
            <a:pPr marL="0" indent="0">
              <a:lnSpc>
                <a:spcPct val="95000"/>
              </a:lnSpc>
              <a:buNone/>
            </a:pPr>
            <a:r>
              <a:rPr lang="en-US" sz="730" b="1" dirty="0">
                <a:solidFill>
                  <a:srgbClr val="253E85"/>
                </a:solidFill>
                <a:latin typeface="Calibri" pitchFamily="34" charset="0"/>
                <a:ea typeface="Calibri" pitchFamily="34" charset="-122"/>
                <a:cs typeface="Calibri" pitchFamily="34" charset="-120"/>
              </a:rPr>
              <a:t>Build the next version
</a:t>
            </a:r>
            <a:r>
              <a:rPr lang="en-US" sz="640" dirty="0">
                <a:solidFill>
                  <a:srgbClr val="5A6176"/>
                </a:solidFill>
                <a:latin typeface="Calibri" pitchFamily="34" charset="0"/>
                <a:ea typeface="Calibri" pitchFamily="34" charset="-122"/>
                <a:cs typeface="Calibri" pitchFamily="34" charset="-120"/>
              </a:rPr>
              <a:t>AI updates the prototype</a:t>
            </a:r>
            <a:endParaRPr lang="en-US" sz="730" dirty="0"/>
          </a:p>
        </p:txBody>
      </p:sp>
      <p:sp>
        <p:nvSpPr>
          <p:cNvPr id="59" name="Shape 54"/>
          <p:cNvSpPr/>
          <p:nvPr/>
        </p:nvSpPr>
        <p:spPr>
          <a:xfrm>
            <a:off x="2011766" y="4119372"/>
            <a:ext cx="20117" cy="946404"/>
          </a:xfrm>
          <a:prstGeom prst="rect">
            <a:avLst/>
          </a:prstGeom>
          <a:solidFill>
            <a:srgbClr val="BD9B70"/>
          </a:solidFill>
          <a:ln/>
        </p:spPr>
        <p:txBody>
          <a:bodyPr/>
          <a:lstStyle/>
          <a:p>
            <a:endParaRPr lang="en-US"/>
          </a:p>
        </p:txBody>
      </p:sp>
      <p:sp>
        <p:nvSpPr>
          <p:cNvPr id="60" name="Shape 55"/>
          <p:cNvSpPr/>
          <p:nvPr/>
        </p:nvSpPr>
        <p:spPr>
          <a:xfrm>
            <a:off x="1911182" y="4119372"/>
            <a:ext cx="120701" cy="20117"/>
          </a:xfrm>
          <a:prstGeom prst="rect">
            <a:avLst/>
          </a:prstGeom>
          <a:solidFill>
            <a:srgbClr val="BD9B70"/>
          </a:solidFill>
          <a:ln/>
        </p:spPr>
        <p:txBody>
          <a:bodyPr/>
          <a:lstStyle/>
          <a:p>
            <a:endParaRPr lang="en-US"/>
          </a:p>
        </p:txBody>
      </p:sp>
      <p:sp>
        <p:nvSpPr>
          <p:cNvPr id="61" name="Shape 56"/>
          <p:cNvSpPr/>
          <p:nvPr/>
        </p:nvSpPr>
        <p:spPr>
          <a:xfrm>
            <a:off x="1911182" y="5065776"/>
            <a:ext cx="120701" cy="20117"/>
          </a:xfrm>
          <a:prstGeom prst="rect">
            <a:avLst/>
          </a:prstGeom>
          <a:solidFill>
            <a:srgbClr val="BD9B70"/>
          </a:solidFill>
          <a:ln/>
        </p:spPr>
        <p:txBody>
          <a:bodyPr/>
          <a:lstStyle/>
          <a:p>
            <a:endParaRPr lang="en-US"/>
          </a:p>
        </p:txBody>
      </p:sp>
      <p:sp>
        <p:nvSpPr>
          <p:cNvPr id="62" name="Shape 57"/>
          <p:cNvSpPr/>
          <p:nvPr/>
        </p:nvSpPr>
        <p:spPr>
          <a:xfrm rot="16200000">
            <a:off x="1883750" y="4082796"/>
            <a:ext cx="91440" cy="91440"/>
          </a:xfrm>
          <a:prstGeom prst="triangle">
            <a:avLst/>
          </a:prstGeom>
          <a:solidFill>
            <a:srgbClr val="BD9B70"/>
          </a:solidFill>
          <a:ln/>
        </p:spPr>
        <p:txBody>
          <a:bodyPr/>
          <a:lstStyle/>
          <a:p>
            <a:endParaRPr lang="en-US"/>
          </a:p>
        </p:txBody>
      </p:sp>
      <p:sp>
        <p:nvSpPr>
          <p:cNvPr id="63" name="Text 58"/>
          <p:cNvSpPr txBox="1"/>
          <p:nvPr/>
        </p:nvSpPr>
        <p:spPr>
          <a:xfrm rot="5400000">
            <a:off x="2002622" y="4391406"/>
            <a:ext cx="237744" cy="402336"/>
          </a:xfrm>
          <a:prstGeom prst="rect">
            <a:avLst/>
          </a:prstGeom>
          <a:noFill/>
          <a:ln/>
        </p:spPr>
        <p:txBody>
          <a:bodyPr wrap="square" lIns="0" tIns="0" rIns="0" bIns="0" rtlCol="0" anchor="ctr"/>
          <a:lstStyle/>
          <a:p>
            <a:pPr marL="0" indent="0" algn="ctr">
              <a:buNone/>
            </a:pPr>
            <a:r>
              <a:rPr lang="en-US" sz="620" b="1" dirty="0">
                <a:solidFill>
                  <a:srgbClr val="8A6D47"/>
                </a:solidFill>
                <a:latin typeface="Calibri" pitchFamily="34" charset="0"/>
                <a:ea typeface="Calibri" pitchFamily="34" charset="-122"/>
                <a:cs typeface="Calibri" pitchFamily="34" charset="-120"/>
              </a:rPr>
              <a:t>repeat</a:t>
            </a:r>
            <a:endParaRPr lang="en-US" sz="620" dirty="0"/>
          </a:p>
        </p:txBody>
      </p:sp>
      <p:sp>
        <p:nvSpPr>
          <p:cNvPr id="64" name="Text 59"/>
          <p:cNvSpPr txBox="1"/>
          <p:nvPr/>
        </p:nvSpPr>
        <p:spPr>
          <a:xfrm>
            <a:off x="420624" y="5151814"/>
            <a:ext cx="2871216" cy="219456"/>
          </a:xfrm>
          <a:prstGeom prst="rect">
            <a:avLst/>
          </a:prstGeom>
          <a:noFill/>
          <a:ln/>
        </p:spPr>
        <p:txBody>
          <a:bodyPr wrap="square" lIns="0" tIns="0" rIns="0" bIns="0" rtlCol="0" anchor="t"/>
          <a:lstStyle/>
          <a:p>
            <a:pPr marL="0" indent="0" algn="ctr">
              <a:lnSpc>
                <a:spcPct val="95000"/>
              </a:lnSpc>
              <a:buNone/>
            </a:pPr>
            <a:r>
              <a:rPr lang="en-US" sz="690" dirty="0">
                <a:solidFill>
                  <a:srgbClr val="8A6D47"/>
                </a:solidFill>
                <a:latin typeface="Calibri" pitchFamily="34" charset="0"/>
                <a:ea typeface="Calibri" pitchFamily="34" charset="-122"/>
                <a:cs typeface="Calibri" pitchFamily="34" charset="-120"/>
              </a:rPr>
              <a:t>Steps 4–6 repeat until the prototype meets requirements. No programming training needed — </a:t>
            </a:r>
            <a:r>
              <a:rPr lang="en-US" sz="690" b="1" dirty="0">
                <a:solidFill>
                  <a:srgbClr val="8A6D47"/>
                </a:solidFill>
                <a:latin typeface="Calibri" pitchFamily="34" charset="0"/>
                <a:ea typeface="Calibri" pitchFamily="34" charset="-122"/>
                <a:cs typeface="Calibri" pitchFamily="34" charset="-120"/>
              </a:rPr>
              <a:t>zero lines of code authored by hand.</a:t>
            </a:r>
            <a:endParaRPr lang="en-US" sz="690" dirty="0"/>
          </a:p>
        </p:txBody>
      </p:sp>
      <p:sp>
        <p:nvSpPr>
          <p:cNvPr id="65" name="Shape 60"/>
          <p:cNvSpPr/>
          <p:nvPr/>
        </p:nvSpPr>
        <p:spPr>
          <a:xfrm>
            <a:off x="3593592" y="1234440"/>
            <a:ext cx="5257800" cy="1536192"/>
          </a:xfrm>
          <a:prstGeom prst="roundRect">
            <a:avLst>
              <a:gd name="adj" fmla="val 2381"/>
            </a:avLst>
          </a:prstGeom>
          <a:solidFill>
            <a:srgbClr val="FFFFFF"/>
          </a:solidFill>
          <a:ln w="9525">
            <a:solidFill>
              <a:srgbClr val="D7DBE8"/>
            </a:solidFill>
            <a:prstDash val="solid"/>
          </a:ln>
        </p:spPr>
        <p:txBody>
          <a:bodyPr/>
          <a:lstStyle/>
          <a:p>
            <a:endParaRPr lang="en-US"/>
          </a:p>
        </p:txBody>
      </p:sp>
      <p:sp>
        <p:nvSpPr>
          <p:cNvPr id="66" name="Text 61"/>
          <p:cNvSpPr txBox="1"/>
          <p:nvPr/>
        </p:nvSpPr>
        <p:spPr>
          <a:xfrm>
            <a:off x="3703320" y="1298448"/>
            <a:ext cx="5038344"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WORKED EXAMPLE — ANESCALC, A NATIVE iOS ANESTHESIA CALCULATOR</a:t>
            </a:r>
            <a:endParaRPr lang="en-US" sz="1000" dirty="0"/>
          </a:p>
        </p:txBody>
      </p:sp>
      <p:sp>
        <p:nvSpPr>
          <p:cNvPr id="67" name="Shape 62"/>
          <p:cNvSpPr/>
          <p:nvPr/>
        </p:nvSpPr>
        <p:spPr>
          <a:xfrm>
            <a:off x="3703320" y="1481328"/>
            <a:ext cx="5038344" cy="20117"/>
          </a:xfrm>
          <a:prstGeom prst="rect">
            <a:avLst/>
          </a:prstGeom>
          <a:solidFill>
            <a:srgbClr val="BD9B70"/>
          </a:solidFill>
          <a:ln/>
        </p:spPr>
        <p:txBody>
          <a:bodyPr/>
          <a:lstStyle/>
          <a:p>
            <a:endParaRPr lang="en-US"/>
          </a:p>
        </p:txBody>
      </p:sp>
      <p:pic>
        <p:nvPicPr>
          <p:cNvPr id="68" name="Image 3" descr="AnesCalc patient inputs screen"/>
          <p:cNvPicPr>
            <a:picLocks noChangeAspect="1"/>
          </p:cNvPicPr>
          <p:nvPr/>
        </p:nvPicPr>
        <p:blipFill>
          <a:blip r:embed="rId6"/>
          <a:stretch>
            <a:fillRect/>
          </a:stretch>
        </p:blipFill>
        <p:spPr>
          <a:xfrm>
            <a:off x="4613148" y="1682061"/>
            <a:ext cx="987552" cy="684703"/>
          </a:xfrm>
          <a:prstGeom prst="rect">
            <a:avLst/>
          </a:prstGeom>
        </p:spPr>
      </p:pic>
      <p:sp>
        <p:nvSpPr>
          <p:cNvPr id="69" name="Shape 63"/>
          <p:cNvSpPr/>
          <p:nvPr/>
        </p:nvSpPr>
        <p:spPr>
          <a:xfrm>
            <a:off x="4613148" y="1554480"/>
            <a:ext cx="987552" cy="939866"/>
          </a:xfrm>
          <a:prstGeom prst="rect">
            <a:avLst/>
          </a:prstGeom>
          <a:ln w="9525">
            <a:solidFill>
              <a:srgbClr val="D7DBE8"/>
            </a:solidFill>
            <a:prstDash val="solid"/>
          </a:ln>
        </p:spPr>
        <p:txBody>
          <a:bodyPr/>
          <a:lstStyle/>
          <a:p>
            <a:endParaRPr lang="en-US"/>
          </a:p>
        </p:txBody>
      </p:sp>
      <p:sp>
        <p:nvSpPr>
          <p:cNvPr id="70" name="Text 64"/>
          <p:cNvSpPr txBox="1"/>
          <p:nvPr/>
        </p:nvSpPr>
        <p:spPr>
          <a:xfrm>
            <a:off x="4613148" y="2503490"/>
            <a:ext cx="987552" cy="164592"/>
          </a:xfrm>
          <a:prstGeom prst="rect">
            <a:avLst/>
          </a:prstGeom>
          <a:noFill/>
          <a:ln/>
        </p:spPr>
        <p:txBody>
          <a:bodyPr wrap="square" lIns="0" tIns="0" rIns="0" bIns="0" rtlCol="0" anchor="ctr"/>
          <a:lstStyle/>
          <a:p>
            <a:pPr marL="0" indent="0" algn="ctr">
              <a:buNone/>
            </a:pPr>
            <a:r>
              <a:rPr lang="en-US" sz="700" dirty="0">
                <a:solidFill>
                  <a:srgbClr val="5A6176"/>
                </a:solidFill>
                <a:latin typeface="Calibri" pitchFamily="34" charset="0"/>
                <a:ea typeface="Calibri" pitchFamily="34" charset="-122"/>
                <a:cs typeface="Calibri" pitchFamily="34" charset="-120"/>
              </a:rPr>
              <a:t>Patient inputs</a:t>
            </a:r>
            <a:endParaRPr lang="en-US" sz="700" dirty="0"/>
          </a:p>
        </p:txBody>
      </p:sp>
      <p:pic>
        <p:nvPicPr>
          <p:cNvPr id="71" name="Image 4" descr="AnesCalc results dashboard with TIVA results"/>
          <p:cNvPicPr>
            <a:picLocks noChangeAspect="1"/>
          </p:cNvPicPr>
          <p:nvPr/>
        </p:nvPicPr>
        <p:blipFill>
          <a:blip r:embed="rId7"/>
          <a:stretch>
            <a:fillRect/>
          </a:stretch>
        </p:blipFill>
        <p:spPr>
          <a:xfrm>
            <a:off x="5728716" y="1682061"/>
            <a:ext cx="987552" cy="684703"/>
          </a:xfrm>
          <a:prstGeom prst="rect">
            <a:avLst/>
          </a:prstGeom>
        </p:spPr>
      </p:pic>
      <p:sp>
        <p:nvSpPr>
          <p:cNvPr id="72" name="Shape 65"/>
          <p:cNvSpPr/>
          <p:nvPr/>
        </p:nvSpPr>
        <p:spPr>
          <a:xfrm>
            <a:off x="5728716" y="1554480"/>
            <a:ext cx="987552" cy="939866"/>
          </a:xfrm>
          <a:prstGeom prst="rect">
            <a:avLst/>
          </a:prstGeom>
          <a:ln w="9525">
            <a:solidFill>
              <a:srgbClr val="D7DBE8"/>
            </a:solidFill>
            <a:prstDash val="solid"/>
          </a:ln>
        </p:spPr>
        <p:txBody>
          <a:bodyPr/>
          <a:lstStyle/>
          <a:p>
            <a:endParaRPr lang="en-US"/>
          </a:p>
        </p:txBody>
      </p:sp>
      <p:sp>
        <p:nvSpPr>
          <p:cNvPr id="73" name="Text 66"/>
          <p:cNvSpPr txBox="1"/>
          <p:nvPr/>
        </p:nvSpPr>
        <p:spPr>
          <a:xfrm>
            <a:off x="5728716" y="2503490"/>
            <a:ext cx="987552" cy="164592"/>
          </a:xfrm>
          <a:prstGeom prst="rect">
            <a:avLst/>
          </a:prstGeom>
          <a:noFill/>
          <a:ln/>
        </p:spPr>
        <p:txBody>
          <a:bodyPr wrap="square" lIns="0" tIns="0" rIns="0" bIns="0" rtlCol="0" anchor="ctr"/>
          <a:lstStyle/>
          <a:p>
            <a:pPr marL="0" indent="0" algn="ctr">
              <a:buNone/>
            </a:pPr>
            <a:r>
              <a:rPr lang="en-US" sz="700" dirty="0">
                <a:solidFill>
                  <a:srgbClr val="5A6176"/>
                </a:solidFill>
                <a:latin typeface="Calibri" pitchFamily="34" charset="0"/>
                <a:ea typeface="Calibri" pitchFamily="34" charset="-122"/>
                <a:cs typeface="Calibri" pitchFamily="34" charset="-120"/>
              </a:rPr>
              <a:t>Results dashboard</a:t>
            </a:r>
            <a:endParaRPr lang="en-US" sz="700" dirty="0"/>
          </a:p>
        </p:txBody>
      </p:sp>
      <p:pic>
        <p:nvPicPr>
          <p:cNvPr id="74" name="Image 5" descr="AnesCalc drug reference cards with 14 class filters"/>
          <p:cNvPicPr>
            <a:picLocks noChangeAspect="1"/>
          </p:cNvPicPr>
          <p:nvPr/>
        </p:nvPicPr>
        <p:blipFill>
          <a:blip r:embed="rId8"/>
          <a:stretch>
            <a:fillRect/>
          </a:stretch>
        </p:blipFill>
        <p:spPr>
          <a:xfrm>
            <a:off x="6844284" y="1682061"/>
            <a:ext cx="987552" cy="684703"/>
          </a:xfrm>
          <a:prstGeom prst="rect">
            <a:avLst/>
          </a:prstGeom>
        </p:spPr>
      </p:pic>
      <p:sp>
        <p:nvSpPr>
          <p:cNvPr id="75" name="Shape 67"/>
          <p:cNvSpPr/>
          <p:nvPr/>
        </p:nvSpPr>
        <p:spPr>
          <a:xfrm>
            <a:off x="6844284" y="1554480"/>
            <a:ext cx="987552" cy="939866"/>
          </a:xfrm>
          <a:prstGeom prst="rect">
            <a:avLst/>
          </a:prstGeom>
          <a:ln w="9525">
            <a:solidFill>
              <a:srgbClr val="D7DBE8"/>
            </a:solidFill>
            <a:prstDash val="solid"/>
          </a:ln>
        </p:spPr>
        <p:txBody>
          <a:bodyPr/>
          <a:lstStyle/>
          <a:p>
            <a:endParaRPr lang="en-US"/>
          </a:p>
        </p:txBody>
      </p:sp>
      <p:sp>
        <p:nvSpPr>
          <p:cNvPr id="76" name="Text 68"/>
          <p:cNvSpPr txBox="1"/>
          <p:nvPr/>
        </p:nvSpPr>
        <p:spPr>
          <a:xfrm>
            <a:off x="6844284" y="2503490"/>
            <a:ext cx="987552" cy="164592"/>
          </a:xfrm>
          <a:prstGeom prst="rect">
            <a:avLst/>
          </a:prstGeom>
          <a:noFill/>
          <a:ln/>
        </p:spPr>
        <p:txBody>
          <a:bodyPr wrap="square" lIns="0" tIns="0" rIns="0" bIns="0" rtlCol="0" anchor="ctr"/>
          <a:lstStyle/>
          <a:p>
            <a:pPr marL="0" indent="0" algn="ctr">
              <a:buNone/>
            </a:pPr>
            <a:r>
              <a:rPr lang="en-US" sz="700" dirty="0">
                <a:solidFill>
                  <a:srgbClr val="5A6176"/>
                </a:solidFill>
                <a:latin typeface="Calibri" pitchFamily="34" charset="0"/>
                <a:ea typeface="Calibri" pitchFamily="34" charset="-122"/>
                <a:cs typeface="Calibri" pitchFamily="34" charset="-120"/>
              </a:rPr>
              <a:t>Drug reference cards</a:t>
            </a:r>
            <a:endParaRPr lang="en-US" sz="700" dirty="0"/>
          </a:p>
        </p:txBody>
      </p:sp>
      <p:sp>
        <p:nvSpPr>
          <p:cNvPr id="77" name="Shape 69"/>
          <p:cNvSpPr/>
          <p:nvPr/>
        </p:nvSpPr>
        <p:spPr>
          <a:xfrm>
            <a:off x="3593592" y="2880360"/>
            <a:ext cx="5257800" cy="896112"/>
          </a:xfrm>
          <a:prstGeom prst="roundRect">
            <a:avLst>
              <a:gd name="adj" fmla="val 4082"/>
            </a:avLst>
          </a:prstGeom>
          <a:solidFill>
            <a:srgbClr val="FFFFFF"/>
          </a:solidFill>
          <a:ln w="9525">
            <a:solidFill>
              <a:srgbClr val="D7DBE8"/>
            </a:solidFill>
            <a:prstDash val="solid"/>
          </a:ln>
        </p:spPr>
        <p:txBody>
          <a:bodyPr/>
          <a:lstStyle/>
          <a:p>
            <a:endParaRPr lang="en-US"/>
          </a:p>
        </p:txBody>
      </p:sp>
      <p:sp>
        <p:nvSpPr>
          <p:cNvPr id="78" name="Text 70"/>
          <p:cNvSpPr txBox="1"/>
          <p:nvPr/>
        </p:nvSpPr>
        <p:spPr>
          <a:xfrm>
            <a:off x="3703320" y="2935224"/>
            <a:ext cx="5038344"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SCOPE — </a:t>
            </a:r>
            <a:r>
              <a:rPr lang="en-US" sz="1000" b="1" kern="0" spc="110" dirty="0">
                <a:solidFill>
                  <a:srgbClr val="5A6176"/>
                </a:solidFill>
                <a:latin typeface="Calibri" pitchFamily="34" charset="0"/>
                <a:ea typeface="Calibri" pitchFamily="34" charset="-122"/>
                <a:cs typeface="Calibri" pitchFamily="34" charset="-120"/>
              </a:rPr>
              <a:t>v1.0 SESSION</a:t>
            </a:r>
            <a:r>
              <a:rPr lang="en-US" sz="1000" b="1" kern="0" spc="110" dirty="0">
                <a:solidFill>
                  <a:srgbClr val="231F20"/>
                </a:solidFill>
                <a:latin typeface="Calibri" pitchFamily="34" charset="0"/>
                <a:ea typeface="Calibri" pitchFamily="34" charset="-122"/>
                <a:cs typeface="Calibri" pitchFamily="34" charset="-120"/>
              </a:rPr>
              <a:t> → </a:t>
            </a:r>
            <a:r>
              <a:rPr lang="en-US" sz="1000" b="1" kern="0" spc="110" dirty="0">
                <a:solidFill>
                  <a:srgbClr val="BD9B70"/>
                </a:solidFill>
                <a:latin typeface="Calibri" pitchFamily="34" charset="0"/>
                <a:ea typeface="Calibri" pitchFamily="34" charset="-122"/>
                <a:cs typeface="Calibri" pitchFamily="34" charset="-120"/>
              </a:rPr>
              <a:t>v2.0 TODAY</a:t>
            </a:r>
            <a:endParaRPr lang="en-US" sz="1000" dirty="0"/>
          </a:p>
        </p:txBody>
      </p:sp>
      <p:sp>
        <p:nvSpPr>
          <p:cNvPr id="79" name="Shape 71"/>
          <p:cNvSpPr/>
          <p:nvPr/>
        </p:nvSpPr>
        <p:spPr>
          <a:xfrm>
            <a:off x="3703320" y="3118104"/>
            <a:ext cx="5038344" cy="20117"/>
          </a:xfrm>
          <a:prstGeom prst="rect">
            <a:avLst/>
          </a:prstGeom>
          <a:solidFill>
            <a:srgbClr val="BD9B70"/>
          </a:solidFill>
          <a:ln/>
        </p:spPr>
        <p:txBody>
          <a:bodyPr/>
          <a:lstStyle/>
          <a:p>
            <a:endParaRPr lang="en-US"/>
          </a:p>
        </p:txBody>
      </p:sp>
      <p:sp>
        <p:nvSpPr>
          <p:cNvPr id="80" name="Shape 72"/>
          <p:cNvSpPr/>
          <p:nvPr/>
        </p:nvSpPr>
        <p:spPr>
          <a:xfrm>
            <a:off x="3703320" y="3182112"/>
            <a:ext cx="1191006" cy="365760"/>
          </a:xfrm>
          <a:prstGeom prst="roundRect">
            <a:avLst>
              <a:gd name="adj" fmla="val 10000"/>
            </a:avLst>
          </a:prstGeom>
          <a:solidFill>
            <a:srgbClr val="253E85"/>
          </a:solidFill>
          <a:ln/>
        </p:spPr>
        <p:txBody>
          <a:bodyPr/>
          <a:lstStyle/>
          <a:p>
            <a:endParaRPr lang="en-US"/>
          </a:p>
        </p:txBody>
      </p:sp>
      <p:sp>
        <p:nvSpPr>
          <p:cNvPr id="81" name="Text 73"/>
          <p:cNvSpPr txBox="1"/>
          <p:nvPr/>
        </p:nvSpPr>
        <p:spPr>
          <a:xfrm>
            <a:off x="3703320" y="3200400"/>
            <a:ext cx="1191006" cy="274320"/>
          </a:xfrm>
          <a:prstGeom prst="rect">
            <a:avLst/>
          </a:prstGeom>
          <a:noFill/>
          <a:ln/>
        </p:spPr>
        <p:txBody>
          <a:bodyPr wrap="square" lIns="0" tIns="0" rIns="0" bIns="0" rtlCol="0" anchor="ctr"/>
          <a:lstStyle/>
          <a:p>
            <a:pPr marL="0" indent="0" algn="ctr">
              <a:buNone/>
            </a:pPr>
            <a:r>
              <a:rPr lang="en-US" sz="1000" dirty="0">
                <a:solidFill>
                  <a:srgbClr val="AFB9DC"/>
                </a:solidFill>
                <a:latin typeface="Calibri" pitchFamily="34" charset="0"/>
                <a:ea typeface="Calibri" pitchFamily="34" charset="-122"/>
                <a:cs typeface="Calibri" pitchFamily="34" charset="-120"/>
              </a:rPr>
              <a:t>116</a:t>
            </a:r>
            <a:r>
              <a:rPr lang="en-US" sz="900" b="1" dirty="0">
                <a:solidFill>
                  <a:srgbClr val="FFFFFF"/>
                </a:solidFill>
                <a:latin typeface="Calibri" pitchFamily="34" charset="0"/>
                <a:ea typeface="Calibri" pitchFamily="34" charset="-122"/>
                <a:cs typeface="Calibri" pitchFamily="34" charset="-120"/>
              </a:rPr>
              <a:t>  →  </a:t>
            </a:r>
            <a:r>
              <a:rPr lang="en-US" sz="1400" b="1" dirty="0">
                <a:solidFill>
                  <a:srgbClr val="BD9B70"/>
                </a:solidFill>
                <a:latin typeface="Calibri" pitchFamily="34" charset="0"/>
                <a:ea typeface="Calibri" pitchFamily="34" charset="-122"/>
                <a:cs typeface="Calibri" pitchFamily="34" charset="-120"/>
              </a:rPr>
              <a:t>231</a:t>
            </a:r>
            <a:endParaRPr lang="en-US" sz="1000" dirty="0"/>
          </a:p>
        </p:txBody>
      </p:sp>
      <p:sp>
        <p:nvSpPr>
          <p:cNvPr id="82" name="Text 74"/>
          <p:cNvSpPr txBox="1"/>
          <p:nvPr/>
        </p:nvSpPr>
        <p:spPr>
          <a:xfrm>
            <a:off x="3703320" y="3566160"/>
            <a:ext cx="1191006" cy="164592"/>
          </a:xfrm>
          <a:prstGeom prst="rect">
            <a:avLst/>
          </a:prstGeom>
          <a:noFill/>
          <a:ln/>
        </p:spPr>
        <p:txBody>
          <a:bodyPr wrap="square" lIns="0" tIns="0" rIns="0" bIns="0" rtlCol="0" anchor="t"/>
          <a:lstStyle/>
          <a:p>
            <a:pPr marL="0" indent="0" algn="ctr">
              <a:buNone/>
            </a:pPr>
            <a:r>
              <a:rPr lang="en-US" sz="680" dirty="0">
                <a:solidFill>
                  <a:srgbClr val="231F20"/>
                </a:solidFill>
                <a:latin typeface="Calibri" pitchFamily="34" charset="0"/>
                <a:ea typeface="Calibri" pitchFamily="34" charset="-122"/>
                <a:cs typeface="Calibri" pitchFamily="34" charset="-120"/>
              </a:rPr>
              <a:t>Live calculations</a:t>
            </a:r>
            <a:endParaRPr lang="en-US" sz="680" dirty="0"/>
          </a:p>
        </p:txBody>
      </p:sp>
      <p:sp>
        <p:nvSpPr>
          <p:cNvPr id="83" name="Shape 75"/>
          <p:cNvSpPr/>
          <p:nvPr/>
        </p:nvSpPr>
        <p:spPr>
          <a:xfrm>
            <a:off x="4985766" y="3182112"/>
            <a:ext cx="1191006" cy="365760"/>
          </a:xfrm>
          <a:prstGeom prst="roundRect">
            <a:avLst>
              <a:gd name="adj" fmla="val 10000"/>
            </a:avLst>
          </a:prstGeom>
          <a:solidFill>
            <a:srgbClr val="253E85"/>
          </a:solidFill>
          <a:ln/>
        </p:spPr>
        <p:txBody>
          <a:bodyPr/>
          <a:lstStyle/>
          <a:p>
            <a:endParaRPr lang="en-US"/>
          </a:p>
        </p:txBody>
      </p:sp>
      <p:sp>
        <p:nvSpPr>
          <p:cNvPr id="84" name="Text 76"/>
          <p:cNvSpPr txBox="1"/>
          <p:nvPr/>
        </p:nvSpPr>
        <p:spPr>
          <a:xfrm>
            <a:off x="4985766" y="3200400"/>
            <a:ext cx="1191006" cy="274320"/>
          </a:xfrm>
          <a:prstGeom prst="rect">
            <a:avLst/>
          </a:prstGeom>
          <a:noFill/>
          <a:ln/>
        </p:spPr>
        <p:txBody>
          <a:bodyPr wrap="square" lIns="0" tIns="0" rIns="0" bIns="0" rtlCol="0" anchor="ctr"/>
          <a:lstStyle/>
          <a:p>
            <a:pPr marL="0" indent="0" algn="ctr">
              <a:buNone/>
            </a:pPr>
            <a:r>
              <a:rPr lang="en-US" sz="1000" dirty="0">
                <a:solidFill>
                  <a:srgbClr val="AFB9DC"/>
                </a:solidFill>
                <a:latin typeface="Calibri" pitchFamily="34" charset="0"/>
                <a:ea typeface="Calibri" pitchFamily="34" charset="-122"/>
                <a:cs typeface="Calibri" pitchFamily="34" charset="-120"/>
              </a:rPr>
              <a:t>10</a:t>
            </a:r>
            <a:r>
              <a:rPr lang="en-US" sz="900" b="1" dirty="0">
                <a:solidFill>
                  <a:srgbClr val="FFFFFF"/>
                </a:solidFill>
                <a:latin typeface="Calibri" pitchFamily="34" charset="0"/>
                <a:ea typeface="Calibri" pitchFamily="34" charset="-122"/>
                <a:cs typeface="Calibri" pitchFamily="34" charset="-120"/>
              </a:rPr>
              <a:t>  →  </a:t>
            </a:r>
            <a:r>
              <a:rPr lang="en-US" sz="1400" b="1" dirty="0">
                <a:solidFill>
                  <a:srgbClr val="BD9B70"/>
                </a:solidFill>
                <a:latin typeface="Calibri" pitchFamily="34" charset="0"/>
                <a:ea typeface="Calibri" pitchFamily="34" charset="-122"/>
                <a:cs typeface="Calibri" pitchFamily="34" charset="-120"/>
              </a:rPr>
              <a:t>55</a:t>
            </a:r>
            <a:endParaRPr lang="en-US" sz="1000" dirty="0"/>
          </a:p>
        </p:txBody>
      </p:sp>
      <p:sp>
        <p:nvSpPr>
          <p:cNvPr id="85" name="Text 77"/>
          <p:cNvSpPr txBox="1"/>
          <p:nvPr/>
        </p:nvSpPr>
        <p:spPr>
          <a:xfrm>
            <a:off x="4985766" y="3566160"/>
            <a:ext cx="1191006" cy="164592"/>
          </a:xfrm>
          <a:prstGeom prst="rect">
            <a:avLst/>
          </a:prstGeom>
          <a:noFill/>
          <a:ln/>
        </p:spPr>
        <p:txBody>
          <a:bodyPr wrap="square" lIns="0" tIns="0" rIns="0" bIns="0" rtlCol="0" anchor="t"/>
          <a:lstStyle/>
          <a:p>
            <a:pPr marL="0" indent="0" algn="ctr">
              <a:buNone/>
            </a:pPr>
            <a:r>
              <a:rPr lang="en-US" sz="680" dirty="0">
                <a:solidFill>
                  <a:srgbClr val="231F20"/>
                </a:solidFill>
                <a:latin typeface="Calibri" pitchFamily="34" charset="0"/>
                <a:ea typeface="Calibri" pitchFamily="34" charset="-122"/>
                <a:cs typeface="Calibri" pitchFamily="34" charset="-120"/>
              </a:rPr>
              <a:t>Drug reference cards</a:t>
            </a:r>
            <a:endParaRPr lang="en-US" sz="680" dirty="0"/>
          </a:p>
        </p:txBody>
      </p:sp>
      <p:sp>
        <p:nvSpPr>
          <p:cNvPr id="86" name="Shape 78"/>
          <p:cNvSpPr/>
          <p:nvPr/>
        </p:nvSpPr>
        <p:spPr>
          <a:xfrm>
            <a:off x="6268212" y="3182112"/>
            <a:ext cx="1191006" cy="365760"/>
          </a:xfrm>
          <a:prstGeom prst="roundRect">
            <a:avLst>
              <a:gd name="adj" fmla="val 10000"/>
            </a:avLst>
          </a:prstGeom>
          <a:solidFill>
            <a:srgbClr val="253E85"/>
          </a:solidFill>
          <a:ln/>
        </p:spPr>
        <p:txBody>
          <a:bodyPr/>
          <a:lstStyle/>
          <a:p>
            <a:endParaRPr lang="en-US"/>
          </a:p>
        </p:txBody>
      </p:sp>
      <p:sp>
        <p:nvSpPr>
          <p:cNvPr id="87" name="Text 79"/>
          <p:cNvSpPr txBox="1"/>
          <p:nvPr/>
        </p:nvSpPr>
        <p:spPr>
          <a:xfrm>
            <a:off x="6268212" y="3200400"/>
            <a:ext cx="1191006" cy="274320"/>
          </a:xfrm>
          <a:prstGeom prst="rect">
            <a:avLst/>
          </a:prstGeom>
          <a:noFill/>
          <a:ln/>
        </p:spPr>
        <p:txBody>
          <a:bodyPr wrap="square" lIns="0" tIns="0" rIns="0" bIns="0" rtlCol="0" anchor="ctr"/>
          <a:lstStyle/>
          <a:p>
            <a:pPr marL="0" indent="0" algn="ctr">
              <a:buNone/>
            </a:pPr>
            <a:r>
              <a:rPr lang="en-US" sz="1000" dirty="0">
                <a:solidFill>
                  <a:srgbClr val="AFB9DC"/>
                </a:solidFill>
                <a:latin typeface="Calibri" pitchFamily="34" charset="0"/>
                <a:ea typeface="Calibri" pitchFamily="34" charset="-122"/>
                <a:cs typeface="Calibri" pitchFamily="34" charset="-120"/>
              </a:rPr>
              <a:t>0</a:t>
            </a:r>
            <a:r>
              <a:rPr lang="en-US" sz="900" b="1" dirty="0">
                <a:solidFill>
                  <a:srgbClr val="FFFFFF"/>
                </a:solidFill>
                <a:latin typeface="Calibri" pitchFamily="34" charset="0"/>
                <a:ea typeface="Calibri" pitchFamily="34" charset="-122"/>
                <a:cs typeface="Calibri" pitchFamily="34" charset="-120"/>
              </a:rPr>
              <a:t>  →  </a:t>
            </a:r>
            <a:r>
              <a:rPr lang="en-US" sz="1400" b="1" dirty="0">
                <a:solidFill>
                  <a:srgbClr val="BD9B70"/>
                </a:solidFill>
                <a:latin typeface="Calibri" pitchFamily="34" charset="0"/>
                <a:ea typeface="Calibri" pitchFamily="34" charset="-122"/>
                <a:cs typeface="Calibri" pitchFamily="34" charset="-120"/>
              </a:rPr>
              <a:t>10</a:t>
            </a:r>
            <a:endParaRPr lang="en-US" sz="1000" dirty="0"/>
          </a:p>
        </p:txBody>
      </p:sp>
      <p:sp>
        <p:nvSpPr>
          <p:cNvPr id="88" name="Text 80"/>
          <p:cNvSpPr txBox="1"/>
          <p:nvPr/>
        </p:nvSpPr>
        <p:spPr>
          <a:xfrm>
            <a:off x="6268212" y="3566160"/>
            <a:ext cx="1191006" cy="164592"/>
          </a:xfrm>
          <a:prstGeom prst="rect">
            <a:avLst/>
          </a:prstGeom>
          <a:noFill/>
          <a:ln/>
        </p:spPr>
        <p:txBody>
          <a:bodyPr wrap="square" lIns="0" tIns="0" rIns="0" bIns="0" rtlCol="0" anchor="t"/>
          <a:lstStyle/>
          <a:p>
            <a:pPr marL="0" indent="0" algn="ctr">
              <a:buNone/>
            </a:pPr>
            <a:r>
              <a:rPr lang="en-US" sz="680" dirty="0">
                <a:solidFill>
                  <a:srgbClr val="231F20"/>
                </a:solidFill>
                <a:latin typeface="Calibri" pitchFamily="34" charset="0"/>
                <a:ea typeface="Calibri" pitchFamily="34" charset="-122"/>
                <a:cs typeface="Calibri" pitchFamily="34" charset="-120"/>
              </a:rPr>
              <a:t>Clinical tools</a:t>
            </a:r>
            <a:endParaRPr lang="en-US" sz="680" dirty="0"/>
          </a:p>
        </p:txBody>
      </p:sp>
      <p:sp>
        <p:nvSpPr>
          <p:cNvPr id="89" name="Shape 81"/>
          <p:cNvSpPr/>
          <p:nvPr/>
        </p:nvSpPr>
        <p:spPr>
          <a:xfrm>
            <a:off x="7550658" y="3182112"/>
            <a:ext cx="1191006" cy="365760"/>
          </a:xfrm>
          <a:prstGeom prst="roundRect">
            <a:avLst>
              <a:gd name="adj" fmla="val 10000"/>
            </a:avLst>
          </a:prstGeom>
          <a:solidFill>
            <a:srgbClr val="253E85"/>
          </a:solidFill>
          <a:ln/>
        </p:spPr>
        <p:txBody>
          <a:bodyPr/>
          <a:lstStyle/>
          <a:p>
            <a:endParaRPr lang="en-US"/>
          </a:p>
        </p:txBody>
      </p:sp>
      <p:sp>
        <p:nvSpPr>
          <p:cNvPr id="90" name="Text 82"/>
          <p:cNvSpPr txBox="1"/>
          <p:nvPr/>
        </p:nvSpPr>
        <p:spPr>
          <a:xfrm>
            <a:off x="7550658" y="3200400"/>
            <a:ext cx="1191006" cy="274320"/>
          </a:xfrm>
          <a:prstGeom prst="rect">
            <a:avLst/>
          </a:prstGeom>
          <a:noFill/>
          <a:ln/>
        </p:spPr>
        <p:txBody>
          <a:bodyPr wrap="square" lIns="0" tIns="0" rIns="0" bIns="0" rtlCol="0" anchor="ctr"/>
          <a:lstStyle/>
          <a:p>
            <a:pPr marL="0" indent="0" algn="ctr">
              <a:buNone/>
            </a:pPr>
            <a:r>
              <a:rPr lang="en-US" sz="1000" dirty="0">
                <a:solidFill>
                  <a:srgbClr val="AFB9DC"/>
                </a:solidFill>
                <a:latin typeface="Calibri" pitchFamily="34" charset="0"/>
                <a:ea typeface="Calibri" pitchFamily="34" charset="-122"/>
                <a:cs typeface="Calibri" pitchFamily="34" charset="-120"/>
              </a:rPr>
              <a:t>0</a:t>
            </a:r>
            <a:r>
              <a:rPr lang="en-US" sz="900" b="1" dirty="0">
                <a:solidFill>
                  <a:srgbClr val="FFFFFF"/>
                </a:solidFill>
                <a:latin typeface="Calibri" pitchFamily="34" charset="0"/>
                <a:ea typeface="Calibri" pitchFamily="34" charset="-122"/>
                <a:cs typeface="Calibri" pitchFamily="34" charset="-120"/>
              </a:rPr>
              <a:t>  →  </a:t>
            </a:r>
            <a:r>
              <a:rPr lang="en-US" sz="1400" b="1" dirty="0">
                <a:solidFill>
                  <a:srgbClr val="BD9B70"/>
                </a:solidFill>
                <a:latin typeface="Calibri" pitchFamily="34" charset="0"/>
                <a:ea typeface="Calibri" pitchFamily="34" charset="-122"/>
                <a:cs typeface="Calibri" pitchFamily="34" charset="-120"/>
              </a:rPr>
              <a:t>0</a:t>
            </a:r>
            <a:endParaRPr lang="en-US" sz="1000" dirty="0"/>
          </a:p>
        </p:txBody>
      </p:sp>
      <p:sp>
        <p:nvSpPr>
          <p:cNvPr id="91" name="Text 83"/>
          <p:cNvSpPr txBox="1"/>
          <p:nvPr/>
        </p:nvSpPr>
        <p:spPr>
          <a:xfrm>
            <a:off x="7550658" y="3566160"/>
            <a:ext cx="1191006" cy="164592"/>
          </a:xfrm>
          <a:prstGeom prst="rect">
            <a:avLst/>
          </a:prstGeom>
          <a:noFill/>
          <a:ln/>
        </p:spPr>
        <p:txBody>
          <a:bodyPr wrap="square" lIns="0" tIns="0" rIns="0" bIns="0" rtlCol="0" anchor="t"/>
          <a:lstStyle/>
          <a:p>
            <a:pPr marL="0" indent="0" algn="ctr">
              <a:buNone/>
            </a:pPr>
            <a:r>
              <a:rPr lang="en-US" sz="680" dirty="0">
                <a:solidFill>
                  <a:srgbClr val="231F20"/>
                </a:solidFill>
                <a:latin typeface="Calibri" pitchFamily="34" charset="0"/>
                <a:ea typeface="Calibri" pitchFamily="34" charset="-122"/>
                <a:cs typeface="Calibri" pitchFamily="34" charset="-120"/>
              </a:rPr>
              <a:t>Lines of code authored</a:t>
            </a:r>
            <a:endParaRPr lang="en-US" sz="680" dirty="0"/>
          </a:p>
        </p:txBody>
      </p:sp>
      <p:sp>
        <p:nvSpPr>
          <p:cNvPr id="92" name="Shape 84"/>
          <p:cNvSpPr/>
          <p:nvPr/>
        </p:nvSpPr>
        <p:spPr>
          <a:xfrm>
            <a:off x="3593592" y="3886200"/>
            <a:ext cx="5257800" cy="1673352"/>
          </a:xfrm>
          <a:prstGeom prst="roundRect">
            <a:avLst>
              <a:gd name="adj" fmla="val 2186"/>
            </a:avLst>
          </a:prstGeom>
          <a:solidFill>
            <a:srgbClr val="FFFFFF"/>
          </a:solidFill>
          <a:ln w="9525">
            <a:solidFill>
              <a:srgbClr val="D7DBE8"/>
            </a:solidFill>
            <a:prstDash val="solid"/>
          </a:ln>
        </p:spPr>
        <p:txBody>
          <a:bodyPr/>
          <a:lstStyle/>
          <a:p>
            <a:endParaRPr lang="en-US"/>
          </a:p>
        </p:txBody>
      </p:sp>
      <p:sp>
        <p:nvSpPr>
          <p:cNvPr id="93" name="Shape 85"/>
          <p:cNvSpPr/>
          <p:nvPr/>
        </p:nvSpPr>
        <p:spPr>
          <a:xfrm>
            <a:off x="3593592" y="3886200"/>
            <a:ext cx="5257800" cy="274320"/>
          </a:xfrm>
          <a:prstGeom prst="roundRect">
            <a:avLst>
              <a:gd name="adj" fmla="val 16667"/>
            </a:avLst>
          </a:prstGeom>
          <a:solidFill>
            <a:srgbClr val="253E85"/>
          </a:solidFill>
          <a:ln/>
        </p:spPr>
        <p:txBody>
          <a:bodyPr/>
          <a:lstStyle/>
          <a:p>
            <a:endParaRPr lang="en-US"/>
          </a:p>
        </p:txBody>
      </p:sp>
      <p:sp>
        <p:nvSpPr>
          <p:cNvPr id="94" name="Shape 86"/>
          <p:cNvSpPr/>
          <p:nvPr/>
        </p:nvSpPr>
        <p:spPr>
          <a:xfrm>
            <a:off x="3593592" y="4023360"/>
            <a:ext cx="5257800" cy="137160"/>
          </a:xfrm>
          <a:prstGeom prst="rect">
            <a:avLst/>
          </a:prstGeom>
          <a:solidFill>
            <a:srgbClr val="253E85"/>
          </a:solidFill>
          <a:ln/>
        </p:spPr>
        <p:txBody>
          <a:bodyPr/>
          <a:lstStyle/>
          <a:p>
            <a:endParaRPr lang="en-US"/>
          </a:p>
        </p:txBody>
      </p:sp>
      <p:sp>
        <p:nvSpPr>
          <p:cNvPr id="95" name="Text 87"/>
          <p:cNvSpPr txBox="1"/>
          <p:nvPr/>
        </p:nvSpPr>
        <p:spPr>
          <a:xfrm>
            <a:off x="3721608" y="3886200"/>
            <a:ext cx="5001768" cy="274320"/>
          </a:xfrm>
          <a:prstGeom prst="rect">
            <a:avLst/>
          </a:prstGeom>
          <a:noFill/>
          <a:ln/>
        </p:spPr>
        <p:txBody>
          <a:bodyPr wrap="square" lIns="0" tIns="0" rIns="0" bIns="0" rtlCol="0" anchor="ctr"/>
          <a:lstStyle/>
          <a:p>
            <a:pPr marL="0" indent="0">
              <a:buNone/>
            </a:pPr>
            <a:r>
              <a:rPr lang="en-US" sz="1000" b="1" kern="0" spc="120" dirty="0">
                <a:solidFill>
                  <a:srgbClr val="FFFFFF"/>
                </a:solidFill>
                <a:latin typeface="Calibri" pitchFamily="34" charset="0"/>
                <a:ea typeface="Calibri" pitchFamily="34" charset="-122"/>
                <a:cs typeface="Calibri" pitchFamily="34" charset="-120"/>
              </a:rPr>
              <a:t>FEATURES</a:t>
            </a:r>
            <a:endParaRPr lang="en-US" sz="1000" dirty="0"/>
          </a:p>
        </p:txBody>
      </p:sp>
      <p:sp>
        <p:nvSpPr>
          <p:cNvPr id="96" name="Text 88"/>
          <p:cNvSpPr txBox="1"/>
          <p:nvPr/>
        </p:nvSpPr>
        <p:spPr>
          <a:xfrm>
            <a:off x="3703320" y="4231386"/>
            <a:ext cx="2240280" cy="146304"/>
          </a:xfrm>
          <a:prstGeom prst="rect">
            <a:avLst/>
          </a:prstGeom>
          <a:noFill/>
          <a:ln/>
        </p:spPr>
        <p:txBody>
          <a:bodyPr wrap="square" lIns="0" tIns="0" rIns="0" bIns="0" rtlCol="0" anchor="t"/>
          <a:lstStyle/>
          <a:p>
            <a:pPr marL="0" indent="0">
              <a:buNone/>
            </a:pPr>
            <a:r>
              <a:rPr lang="en-US" sz="760" b="1" dirty="0">
                <a:solidFill>
                  <a:srgbClr val="253E85"/>
                </a:solidFill>
                <a:latin typeface="Calibri" pitchFamily="34" charset="0"/>
                <a:ea typeface="Calibri" pitchFamily="34" charset="-122"/>
                <a:cs typeface="Calibri" pitchFamily="34" charset="-120"/>
              </a:rPr>
              <a:t>Application features</a:t>
            </a:r>
            <a:endParaRPr lang="en-US" sz="760" dirty="0"/>
          </a:p>
        </p:txBody>
      </p:sp>
      <p:sp>
        <p:nvSpPr>
          <p:cNvPr id="97" name="Shape 89"/>
          <p:cNvSpPr/>
          <p:nvPr/>
        </p:nvSpPr>
        <p:spPr>
          <a:xfrm>
            <a:off x="3703320" y="4434840"/>
            <a:ext cx="274320" cy="201168"/>
          </a:xfrm>
          <a:prstGeom prst="roundRect">
            <a:avLst>
              <a:gd name="adj" fmla="val 22727"/>
            </a:avLst>
          </a:prstGeom>
          <a:solidFill>
            <a:srgbClr val="253E85"/>
          </a:solidFill>
          <a:ln/>
        </p:spPr>
        <p:txBody>
          <a:bodyPr/>
          <a:lstStyle/>
          <a:p>
            <a:endParaRPr lang="en-US"/>
          </a:p>
        </p:txBody>
      </p:sp>
      <p:sp>
        <p:nvSpPr>
          <p:cNvPr id="98" name="Text 90"/>
          <p:cNvSpPr txBox="1"/>
          <p:nvPr/>
        </p:nvSpPr>
        <p:spPr>
          <a:xfrm>
            <a:off x="3703320" y="4424330"/>
            <a:ext cx="274320" cy="201168"/>
          </a:xfrm>
          <a:prstGeom prst="rect">
            <a:avLst/>
          </a:prstGeom>
          <a:noFill/>
          <a:ln/>
        </p:spPr>
        <p:txBody>
          <a:bodyPr wrap="square" lIns="0" tIns="0" rIns="0" bIns="0" rtlCol="0" anchor="ctr"/>
          <a:lstStyle/>
          <a:p>
            <a:pPr marL="0" indent="0" algn="ctr">
              <a:buNone/>
            </a:pPr>
            <a:r>
              <a:rPr lang="en-US" sz="850" b="1" dirty="0">
                <a:solidFill>
                  <a:srgbClr val="BD9B70"/>
                </a:solidFill>
                <a:latin typeface="Calibri" pitchFamily="34" charset="0"/>
                <a:ea typeface="Calibri" pitchFamily="34" charset="-122"/>
                <a:cs typeface="Calibri" pitchFamily="34" charset="-120"/>
              </a:rPr>
              <a:t>16</a:t>
            </a:r>
            <a:endParaRPr lang="en-US" sz="850" dirty="0"/>
          </a:p>
        </p:txBody>
      </p:sp>
      <p:sp>
        <p:nvSpPr>
          <p:cNvPr id="99" name="Text 91"/>
          <p:cNvSpPr txBox="1"/>
          <p:nvPr/>
        </p:nvSpPr>
        <p:spPr>
          <a:xfrm>
            <a:off x="4032504" y="4404676"/>
            <a:ext cx="1911096" cy="228600"/>
          </a:xfrm>
          <a:prstGeom prst="rect">
            <a:avLst/>
          </a:prstGeom>
          <a:noFill/>
          <a:ln/>
        </p:spPr>
        <p:txBody>
          <a:bodyPr wrap="square" lIns="0" tIns="0" rIns="0" bIns="0" rtlCol="0" anchor="t"/>
          <a:lstStyle/>
          <a:p>
            <a:pPr marL="0" indent="0">
              <a:lnSpc>
                <a:spcPct val="100000"/>
              </a:lnSpc>
              <a:buNone/>
            </a:pPr>
            <a:r>
              <a:rPr lang="en-US" sz="710" b="1" dirty="0">
                <a:solidFill>
                  <a:srgbClr val="231F20"/>
                </a:solidFill>
                <a:latin typeface="Calibri" pitchFamily="34" charset="0"/>
                <a:ea typeface="Calibri" pitchFamily="34" charset="-122"/>
                <a:cs typeface="Calibri" pitchFamily="34" charset="-120"/>
              </a:rPr>
              <a:t>Clinical domains:  </a:t>
            </a:r>
            <a:r>
              <a:rPr lang="en-US" sz="660" dirty="0">
                <a:solidFill>
                  <a:srgbClr val="5A6176"/>
                </a:solidFill>
                <a:latin typeface="Calibri" pitchFamily="34" charset="0"/>
                <a:ea typeface="Calibri" pitchFamily="34" charset="-122"/>
                <a:cs typeface="Calibri" pitchFamily="34" charset="-120"/>
              </a:rPr>
              <a:t>MAC, NMB, TIVA, vasopressors, LAST, OB, peds</a:t>
            </a:r>
            <a:endParaRPr lang="en-US" sz="710" dirty="0"/>
          </a:p>
        </p:txBody>
      </p:sp>
      <p:sp>
        <p:nvSpPr>
          <p:cNvPr id="100" name="Shape 92"/>
          <p:cNvSpPr/>
          <p:nvPr/>
        </p:nvSpPr>
        <p:spPr>
          <a:xfrm>
            <a:off x="3703320" y="4672584"/>
            <a:ext cx="274320" cy="201168"/>
          </a:xfrm>
          <a:prstGeom prst="roundRect">
            <a:avLst>
              <a:gd name="adj" fmla="val 22727"/>
            </a:avLst>
          </a:prstGeom>
          <a:solidFill>
            <a:srgbClr val="253E85"/>
          </a:solidFill>
          <a:ln/>
        </p:spPr>
        <p:txBody>
          <a:bodyPr/>
          <a:lstStyle/>
          <a:p>
            <a:endParaRPr lang="en-US"/>
          </a:p>
        </p:txBody>
      </p:sp>
      <p:sp>
        <p:nvSpPr>
          <p:cNvPr id="101" name="Text 93"/>
          <p:cNvSpPr txBox="1"/>
          <p:nvPr/>
        </p:nvSpPr>
        <p:spPr>
          <a:xfrm>
            <a:off x="3703320" y="4662074"/>
            <a:ext cx="274320" cy="201168"/>
          </a:xfrm>
          <a:prstGeom prst="rect">
            <a:avLst/>
          </a:prstGeom>
          <a:noFill/>
          <a:ln/>
        </p:spPr>
        <p:txBody>
          <a:bodyPr wrap="square" lIns="0" tIns="0" rIns="0" bIns="0" rtlCol="0" anchor="ctr"/>
          <a:lstStyle/>
          <a:p>
            <a:pPr marL="0" indent="0" algn="ctr">
              <a:buNone/>
            </a:pPr>
            <a:r>
              <a:rPr lang="en-US" sz="850" b="1" dirty="0">
                <a:solidFill>
                  <a:srgbClr val="BD9B70"/>
                </a:solidFill>
                <a:latin typeface="Calibri" pitchFamily="34" charset="0"/>
                <a:ea typeface="Calibri" pitchFamily="34" charset="-122"/>
                <a:cs typeface="Calibri" pitchFamily="34" charset="-120"/>
              </a:rPr>
              <a:t>55</a:t>
            </a:r>
            <a:endParaRPr lang="en-US" sz="850" dirty="0"/>
          </a:p>
        </p:txBody>
      </p:sp>
      <p:sp>
        <p:nvSpPr>
          <p:cNvPr id="102" name="Text 94"/>
          <p:cNvSpPr txBox="1"/>
          <p:nvPr/>
        </p:nvSpPr>
        <p:spPr>
          <a:xfrm>
            <a:off x="4032504" y="4684460"/>
            <a:ext cx="1911096" cy="228600"/>
          </a:xfrm>
          <a:prstGeom prst="rect">
            <a:avLst/>
          </a:prstGeom>
          <a:noFill/>
          <a:ln/>
        </p:spPr>
        <p:txBody>
          <a:bodyPr wrap="square" lIns="0" tIns="0" rIns="0" bIns="0" rtlCol="0" anchor="t"/>
          <a:lstStyle/>
          <a:p>
            <a:pPr marL="0" indent="0">
              <a:lnSpc>
                <a:spcPct val="100000"/>
              </a:lnSpc>
              <a:buNone/>
            </a:pPr>
            <a:r>
              <a:rPr lang="en-US" sz="710" b="1" dirty="0">
                <a:solidFill>
                  <a:srgbClr val="231F20"/>
                </a:solidFill>
                <a:latin typeface="Calibri" pitchFamily="34" charset="0"/>
                <a:ea typeface="Calibri" pitchFamily="34" charset="-122"/>
                <a:cs typeface="Calibri" pitchFamily="34" charset="-120"/>
              </a:rPr>
              <a:t>Drug reference cards:  </a:t>
            </a:r>
            <a:r>
              <a:rPr lang="en-US" sz="660" dirty="0">
                <a:solidFill>
                  <a:srgbClr val="5A6176"/>
                </a:solidFill>
                <a:latin typeface="Calibri" pitchFamily="34" charset="0"/>
                <a:ea typeface="Calibri" pitchFamily="34" charset="-122"/>
                <a:cs typeface="Calibri" pitchFamily="34" charset="-120"/>
              </a:rPr>
              <a:t>14 classes, searchable</a:t>
            </a:r>
            <a:endParaRPr lang="en-US" sz="710" dirty="0"/>
          </a:p>
        </p:txBody>
      </p:sp>
      <p:sp>
        <p:nvSpPr>
          <p:cNvPr id="103" name="Shape 95"/>
          <p:cNvSpPr/>
          <p:nvPr/>
        </p:nvSpPr>
        <p:spPr>
          <a:xfrm>
            <a:off x="3703320" y="4910328"/>
            <a:ext cx="274320" cy="201168"/>
          </a:xfrm>
          <a:prstGeom prst="roundRect">
            <a:avLst>
              <a:gd name="adj" fmla="val 22727"/>
            </a:avLst>
          </a:prstGeom>
          <a:solidFill>
            <a:srgbClr val="253E85"/>
          </a:solidFill>
          <a:ln/>
        </p:spPr>
        <p:txBody>
          <a:bodyPr/>
          <a:lstStyle/>
          <a:p>
            <a:endParaRPr lang="en-US"/>
          </a:p>
        </p:txBody>
      </p:sp>
      <p:sp>
        <p:nvSpPr>
          <p:cNvPr id="104" name="Text 96"/>
          <p:cNvSpPr txBox="1"/>
          <p:nvPr/>
        </p:nvSpPr>
        <p:spPr>
          <a:xfrm>
            <a:off x="3703320" y="4899818"/>
            <a:ext cx="274320" cy="201168"/>
          </a:xfrm>
          <a:prstGeom prst="rect">
            <a:avLst/>
          </a:prstGeom>
          <a:noFill/>
          <a:ln/>
        </p:spPr>
        <p:txBody>
          <a:bodyPr wrap="square" lIns="0" tIns="0" rIns="0" bIns="0" rtlCol="0" anchor="ctr"/>
          <a:lstStyle/>
          <a:p>
            <a:pPr marL="0" indent="0" algn="ctr">
              <a:buNone/>
            </a:pPr>
            <a:r>
              <a:rPr lang="en-US" sz="850" b="1" dirty="0">
                <a:solidFill>
                  <a:srgbClr val="BD9B70"/>
                </a:solidFill>
                <a:latin typeface="Calibri" pitchFamily="34" charset="0"/>
                <a:ea typeface="Calibri" pitchFamily="34" charset="-122"/>
                <a:cs typeface="Calibri" pitchFamily="34" charset="-120"/>
              </a:rPr>
              <a:t>10</a:t>
            </a:r>
            <a:endParaRPr lang="en-US" sz="850" dirty="0"/>
          </a:p>
        </p:txBody>
      </p:sp>
      <p:sp>
        <p:nvSpPr>
          <p:cNvPr id="105" name="Text 97"/>
          <p:cNvSpPr txBox="1"/>
          <p:nvPr/>
        </p:nvSpPr>
        <p:spPr>
          <a:xfrm>
            <a:off x="4032504" y="4880164"/>
            <a:ext cx="1911096" cy="228600"/>
          </a:xfrm>
          <a:prstGeom prst="rect">
            <a:avLst/>
          </a:prstGeom>
          <a:noFill/>
          <a:ln/>
        </p:spPr>
        <p:txBody>
          <a:bodyPr wrap="square" lIns="0" tIns="0" rIns="0" bIns="0" rtlCol="0" anchor="t"/>
          <a:lstStyle/>
          <a:p>
            <a:pPr marL="0" indent="0">
              <a:lnSpc>
                <a:spcPct val="100000"/>
              </a:lnSpc>
              <a:buNone/>
            </a:pPr>
            <a:r>
              <a:rPr lang="en-US" sz="710" b="1" dirty="0">
                <a:solidFill>
                  <a:srgbClr val="231F20"/>
                </a:solidFill>
                <a:latin typeface="Calibri" pitchFamily="34" charset="0"/>
                <a:ea typeface="Calibri" pitchFamily="34" charset="-122"/>
                <a:cs typeface="Calibri" pitchFamily="34" charset="-120"/>
              </a:rPr>
              <a:t>Bedside clinical tools:  </a:t>
            </a:r>
            <a:r>
              <a:rPr lang="en-US" sz="660" dirty="0">
                <a:solidFill>
                  <a:srgbClr val="5A6176"/>
                </a:solidFill>
                <a:latin typeface="Calibri" pitchFamily="34" charset="0"/>
                <a:ea typeface="Calibri" pitchFamily="34" charset="-122"/>
                <a:cs typeface="Calibri" pitchFamily="34" charset="-120"/>
              </a:rPr>
              <a:t>RSBI, RASS, Fick, driving pressure</a:t>
            </a:r>
            <a:endParaRPr lang="en-US" sz="710" dirty="0"/>
          </a:p>
        </p:txBody>
      </p:sp>
      <p:sp>
        <p:nvSpPr>
          <p:cNvPr id="106" name="Shape 98"/>
          <p:cNvSpPr/>
          <p:nvPr/>
        </p:nvSpPr>
        <p:spPr>
          <a:xfrm>
            <a:off x="3703320" y="5166360"/>
            <a:ext cx="2240280" cy="210312"/>
          </a:xfrm>
          <a:prstGeom prst="roundRect">
            <a:avLst>
              <a:gd name="adj" fmla="val 17391"/>
            </a:avLst>
          </a:prstGeom>
          <a:solidFill>
            <a:srgbClr val="253E85"/>
          </a:solidFill>
          <a:ln/>
        </p:spPr>
        <p:txBody>
          <a:bodyPr/>
          <a:lstStyle/>
          <a:p>
            <a:endParaRPr lang="en-US"/>
          </a:p>
        </p:txBody>
      </p:sp>
      <p:sp>
        <p:nvSpPr>
          <p:cNvPr id="107" name="Text 99"/>
          <p:cNvSpPr txBox="1"/>
          <p:nvPr/>
        </p:nvSpPr>
        <p:spPr>
          <a:xfrm>
            <a:off x="3703320" y="5166360"/>
            <a:ext cx="2240280" cy="21031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100% OFFLINE — no data transmitted</a:t>
            </a:r>
            <a:endParaRPr lang="en-US" sz="700" dirty="0"/>
          </a:p>
        </p:txBody>
      </p:sp>
      <p:sp>
        <p:nvSpPr>
          <p:cNvPr id="108" name="Text 100"/>
          <p:cNvSpPr txBox="1"/>
          <p:nvPr/>
        </p:nvSpPr>
        <p:spPr>
          <a:xfrm>
            <a:off x="3703320" y="5383084"/>
            <a:ext cx="2240280" cy="146304"/>
          </a:xfrm>
          <a:prstGeom prst="rect">
            <a:avLst/>
          </a:prstGeom>
          <a:noFill/>
          <a:ln/>
        </p:spPr>
        <p:txBody>
          <a:bodyPr wrap="square" lIns="0" tIns="0" rIns="0" bIns="0" rtlCol="0" anchor="t"/>
          <a:lstStyle/>
          <a:p>
            <a:pPr marL="0" indent="0" algn="ctr">
              <a:buNone/>
            </a:pPr>
            <a:r>
              <a:rPr lang="en-US" sz="640" dirty="0">
                <a:solidFill>
                  <a:srgbClr val="5A6176"/>
                </a:solidFill>
                <a:latin typeface="Calibri" pitchFamily="34" charset="0"/>
                <a:ea typeface="Calibri" pitchFamily="34" charset="-122"/>
                <a:cs typeface="Calibri" pitchFamily="34" charset="-120"/>
              </a:rPr>
              <a:t>Also: OB/regional protocols · unit conversions · PDF export</a:t>
            </a:r>
            <a:endParaRPr lang="en-US" sz="640" dirty="0"/>
          </a:p>
        </p:txBody>
      </p:sp>
      <p:sp>
        <p:nvSpPr>
          <p:cNvPr id="109" name="Text 101"/>
          <p:cNvSpPr txBox="1"/>
          <p:nvPr/>
        </p:nvSpPr>
        <p:spPr>
          <a:xfrm>
            <a:off x="6108192" y="4251960"/>
            <a:ext cx="2633472" cy="146304"/>
          </a:xfrm>
          <a:prstGeom prst="rect">
            <a:avLst/>
          </a:prstGeom>
          <a:noFill/>
          <a:ln/>
        </p:spPr>
        <p:txBody>
          <a:bodyPr wrap="square" lIns="0" tIns="0" rIns="0" bIns="0" rtlCol="0" anchor="t"/>
          <a:lstStyle/>
          <a:p>
            <a:pPr marL="0" indent="0">
              <a:buNone/>
            </a:pPr>
            <a:r>
              <a:rPr lang="en-US" sz="760" b="1" dirty="0">
                <a:solidFill>
                  <a:srgbClr val="253E85"/>
                </a:solidFill>
                <a:latin typeface="Calibri" pitchFamily="34" charset="0"/>
                <a:ea typeface="Calibri" pitchFamily="34" charset="-122"/>
                <a:cs typeface="Calibri" pitchFamily="34" charset="-120"/>
              </a:rPr>
              <a:t>Dosing verification audit</a:t>
            </a:r>
            <a:endParaRPr lang="en-US" sz="760" dirty="0"/>
          </a:p>
        </p:txBody>
      </p:sp>
      <p:sp>
        <p:nvSpPr>
          <p:cNvPr id="110" name="Shape 102"/>
          <p:cNvSpPr/>
          <p:nvPr/>
        </p:nvSpPr>
        <p:spPr>
          <a:xfrm>
            <a:off x="6108192" y="4434840"/>
            <a:ext cx="829056" cy="457200"/>
          </a:xfrm>
          <a:prstGeom prst="roundRect">
            <a:avLst>
              <a:gd name="adj" fmla="val 8000"/>
            </a:avLst>
          </a:prstGeom>
          <a:solidFill>
            <a:srgbClr val="F3EEE6"/>
          </a:solidFill>
          <a:ln w="9525">
            <a:solidFill>
              <a:srgbClr val="BD9B70"/>
            </a:solidFill>
            <a:prstDash val="solid"/>
          </a:ln>
        </p:spPr>
        <p:txBody>
          <a:bodyPr/>
          <a:lstStyle/>
          <a:p>
            <a:endParaRPr lang="en-US"/>
          </a:p>
        </p:txBody>
      </p:sp>
      <p:sp>
        <p:nvSpPr>
          <p:cNvPr id="111" name="Text 103"/>
          <p:cNvSpPr txBox="1"/>
          <p:nvPr/>
        </p:nvSpPr>
        <p:spPr>
          <a:xfrm>
            <a:off x="6108192" y="4483292"/>
            <a:ext cx="829056" cy="219456"/>
          </a:xfrm>
          <a:prstGeom prst="rect">
            <a:avLst/>
          </a:prstGeom>
          <a:noFill/>
          <a:ln/>
        </p:spPr>
        <p:txBody>
          <a:bodyPr wrap="square" lIns="0" tIns="0" rIns="0" bIns="0" rtlCol="0" anchor="ctr"/>
          <a:lstStyle/>
          <a:p>
            <a:pPr marL="0" indent="0" algn="ctr">
              <a:buNone/>
            </a:pPr>
            <a:r>
              <a:rPr lang="en-US" sz="1500" b="1" dirty="0">
                <a:solidFill>
                  <a:srgbClr val="8A6D47"/>
                </a:solidFill>
                <a:latin typeface="Calibri" pitchFamily="34" charset="0"/>
                <a:ea typeface="Calibri" pitchFamily="34" charset="-122"/>
                <a:cs typeface="Calibri" pitchFamily="34" charset="-120"/>
              </a:rPr>
              <a:t>191</a:t>
            </a:r>
            <a:endParaRPr lang="en-US" sz="1500" dirty="0"/>
          </a:p>
        </p:txBody>
      </p:sp>
      <p:sp>
        <p:nvSpPr>
          <p:cNvPr id="112" name="Text 104"/>
          <p:cNvSpPr txBox="1"/>
          <p:nvPr/>
        </p:nvSpPr>
        <p:spPr>
          <a:xfrm>
            <a:off x="6108192" y="4693604"/>
            <a:ext cx="829056" cy="201168"/>
          </a:xfrm>
          <a:prstGeom prst="rect">
            <a:avLst/>
          </a:prstGeom>
          <a:noFill/>
          <a:ln/>
        </p:spPr>
        <p:txBody>
          <a:bodyPr wrap="square" lIns="0" tIns="0" rIns="0" bIns="0" rtlCol="0" anchor="t"/>
          <a:lstStyle/>
          <a:p>
            <a:pPr marL="0" indent="0" algn="ctr">
              <a:buNone/>
            </a:pPr>
            <a:r>
              <a:rPr lang="en-US" sz="630" dirty="0">
                <a:solidFill>
                  <a:srgbClr val="8A6D47"/>
                </a:solidFill>
                <a:latin typeface="Calibri" pitchFamily="34" charset="0"/>
                <a:ea typeface="Calibri" pitchFamily="34" charset="-122"/>
                <a:cs typeface="Calibri" pitchFamily="34" charset="-120"/>
              </a:rPr>
              <a:t>rows audited</a:t>
            </a:r>
            <a:endParaRPr lang="en-US" sz="630" dirty="0"/>
          </a:p>
        </p:txBody>
      </p:sp>
      <p:sp>
        <p:nvSpPr>
          <p:cNvPr id="113" name="Shape 105"/>
          <p:cNvSpPr/>
          <p:nvPr/>
        </p:nvSpPr>
        <p:spPr>
          <a:xfrm>
            <a:off x="7010400" y="4434840"/>
            <a:ext cx="829056" cy="457200"/>
          </a:xfrm>
          <a:prstGeom prst="roundRect">
            <a:avLst>
              <a:gd name="adj" fmla="val 8000"/>
            </a:avLst>
          </a:prstGeom>
          <a:solidFill>
            <a:srgbClr val="F3EEE6"/>
          </a:solidFill>
          <a:ln w="9525">
            <a:solidFill>
              <a:srgbClr val="BD9B70"/>
            </a:solidFill>
            <a:prstDash val="solid"/>
          </a:ln>
        </p:spPr>
        <p:txBody>
          <a:bodyPr/>
          <a:lstStyle/>
          <a:p>
            <a:endParaRPr lang="en-US"/>
          </a:p>
        </p:txBody>
      </p:sp>
      <p:sp>
        <p:nvSpPr>
          <p:cNvPr id="114" name="Text 106"/>
          <p:cNvSpPr txBox="1"/>
          <p:nvPr/>
        </p:nvSpPr>
        <p:spPr>
          <a:xfrm>
            <a:off x="7010400" y="4483292"/>
            <a:ext cx="829056" cy="219456"/>
          </a:xfrm>
          <a:prstGeom prst="rect">
            <a:avLst/>
          </a:prstGeom>
          <a:noFill/>
          <a:ln/>
        </p:spPr>
        <p:txBody>
          <a:bodyPr wrap="square" lIns="0" tIns="0" rIns="0" bIns="0" rtlCol="0" anchor="ctr"/>
          <a:lstStyle/>
          <a:p>
            <a:pPr marL="0" indent="0" algn="ctr">
              <a:buNone/>
            </a:pPr>
            <a:r>
              <a:rPr lang="en-US" sz="1500" b="1" dirty="0">
                <a:solidFill>
                  <a:srgbClr val="8A6D47"/>
                </a:solidFill>
                <a:latin typeface="Calibri" pitchFamily="34" charset="0"/>
                <a:ea typeface="Calibri" pitchFamily="34" charset="-122"/>
                <a:cs typeface="Calibri" pitchFamily="34" charset="-120"/>
              </a:rPr>
              <a:t>24</a:t>
            </a:r>
            <a:endParaRPr lang="en-US" sz="1500" dirty="0"/>
          </a:p>
        </p:txBody>
      </p:sp>
      <p:sp>
        <p:nvSpPr>
          <p:cNvPr id="115" name="Text 107"/>
          <p:cNvSpPr txBox="1"/>
          <p:nvPr/>
        </p:nvSpPr>
        <p:spPr>
          <a:xfrm>
            <a:off x="7010400" y="4693604"/>
            <a:ext cx="829056" cy="201168"/>
          </a:xfrm>
          <a:prstGeom prst="rect">
            <a:avLst/>
          </a:prstGeom>
          <a:noFill/>
          <a:ln/>
        </p:spPr>
        <p:txBody>
          <a:bodyPr wrap="square" lIns="0" tIns="0" rIns="0" bIns="0" rtlCol="0" anchor="t"/>
          <a:lstStyle/>
          <a:p>
            <a:pPr marL="0" indent="0" algn="ctr">
              <a:buNone/>
            </a:pPr>
            <a:r>
              <a:rPr lang="en-US" sz="630" dirty="0">
                <a:solidFill>
                  <a:srgbClr val="8A6D47"/>
                </a:solidFill>
                <a:latin typeface="Calibri" pitchFamily="34" charset="0"/>
                <a:ea typeface="Calibri" pitchFamily="34" charset="-122"/>
                <a:cs typeface="Calibri" pitchFamily="34" charset="-120"/>
              </a:rPr>
              <a:t>sections</a:t>
            </a:r>
            <a:endParaRPr lang="en-US" sz="630" dirty="0"/>
          </a:p>
        </p:txBody>
      </p:sp>
      <p:sp>
        <p:nvSpPr>
          <p:cNvPr id="116" name="Shape 108"/>
          <p:cNvSpPr/>
          <p:nvPr/>
        </p:nvSpPr>
        <p:spPr>
          <a:xfrm>
            <a:off x="7912608" y="4434840"/>
            <a:ext cx="829056" cy="457200"/>
          </a:xfrm>
          <a:prstGeom prst="roundRect">
            <a:avLst>
              <a:gd name="adj" fmla="val 8000"/>
            </a:avLst>
          </a:prstGeom>
          <a:solidFill>
            <a:srgbClr val="F3EEE6"/>
          </a:solidFill>
          <a:ln w="9525">
            <a:solidFill>
              <a:srgbClr val="BD9B70"/>
            </a:solidFill>
            <a:prstDash val="solid"/>
          </a:ln>
        </p:spPr>
        <p:txBody>
          <a:bodyPr/>
          <a:lstStyle/>
          <a:p>
            <a:endParaRPr lang="en-US"/>
          </a:p>
        </p:txBody>
      </p:sp>
      <p:sp>
        <p:nvSpPr>
          <p:cNvPr id="117" name="Text 109"/>
          <p:cNvSpPr txBox="1"/>
          <p:nvPr/>
        </p:nvSpPr>
        <p:spPr>
          <a:xfrm>
            <a:off x="7912608" y="4483292"/>
            <a:ext cx="829056" cy="219456"/>
          </a:xfrm>
          <a:prstGeom prst="rect">
            <a:avLst/>
          </a:prstGeom>
          <a:noFill/>
          <a:ln/>
        </p:spPr>
        <p:txBody>
          <a:bodyPr wrap="square" lIns="0" tIns="0" rIns="0" bIns="0" rtlCol="0" anchor="ctr"/>
          <a:lstStyle/>
          <a:p>
            <a:pPr marL="0" indent="0" algn="ctr">
              <a:buNone/>
            </a:pPr>
            <a:r>
              <a:rPr lang="en-US" sz="1500" b="1" dirty="0">
                <a:solidFill>
                  <a:srgbClr val="8A6D47"/>
                </a:solidFill>
                <a:latin typeface="Calibri" pitchFamily="34" charset="0"/>
                <a:ea typeface="Calibri" pitchFamily="34" charset="-122"/>
                <a:cs typeface="Calibri" pitchFamily="34" charset="-120"/>
              </a:rPr>
              <a:t>3</a:t>
            </a:r>
            <a:endParaRPr lang="en-US" sz="1500" dirty="0"/>
          </a:p>
        </p:txBody>
      </p:sp>
      <p:sp>
        <p:nvSpPr>
          <p:cNvPr id="118" name="Text 110"/>
          <p:cNvSpPr txBox="1"/>
          <p:nvPr/>
        </p:nvSpPr>
        <p:spPr>
          <a:xfrm>
            <a:off x="7912608" y="4693604"/>
            <a:ext cx="829056" cy="201168"/>
          </a:xfrm>
          <a:prstGeom prst="rect">
            <a:avLst/>
          </a:prstGeom>
          <a:noFill/>
          <a:ln/>
        </p:spPr>
        <p:txBody>
          <a:bodyPr wrap="square" lIns="0" tIns="0" rIns="0" bIns="0" rtlCol="0" anchor="t"/>
          <a:lstStyle/>
          <a:p>
            <a:pPr marL="0" indent="0" algn="ctr">
              <a:buNone/>
            </a:pPr>
            <a:r>
              <a:rPr lang="en-US" sz="630" dirty="0">
                <a:solidFill>
                  <a:srgbClr val="8A6D47"/>
                </a:solidFill>
                <a:latin typeface="Calibri" pitchFamily="34" charset="0"/>
                <a:ea typeface="Calibri" pitchFamily="34" charset="-122"/>
                <a:cs typeface="Calibri" pitchFamily="34" charset="-120"/>
              </a:rPr>
              <a:t>independent passes</a:t>
            </a:r>
            <a:endParaRPr lang="en-US" sz="630" dirty="0"/>
          </a:p>
        </p:txBody>
      </p:sp>
      <p:sp>
        <p:nvSpPr>
          <p:cNvPr id="119" name="Text 111"/>
          <p:cNvSpPr txBox="1"/>
          <p:nvPr/>
        </p:nvSpPr>
        <p:spPr>
          <a:xfrm>
            <a:off x="6108192" y="4965192"/>
            <a:ext cx="2633472" cy="731520"/>
          </a:xfrm>
          <a:prstGeom prst="rect">
            <a:avLst/>
          </a:prstGeom>
          <a:noFill/>
          <a:ln/>
        </p:spPr>
        <p:txBody>
          <a:bodyPr wrap="square" lIns="0" tIns="0" rIns="0" bIns="0" rtlCol="0" anchor="t"/>
          <a:lstStyle/>
          <a:p>
            <a:pPr marL="0" indent="0">
              <a:lnSpc>
                <a:spcPct val="108000"/>
              </a:lnSpc>
              <a:buNone/>
            </a:pPr>
            <a:r>
              <a:rPr lang="en-US" sz="660" dirty="0">
                <a:solidFill>
                  <a:srgbClr val="231F20"/>
                </a:solidFill>
                <a:latin typeface="Calibri" pitchFamily="34" charset="0"/>
                <a:ea typeface="Calibri" pitchFamily="34" charset="-122"/>
                <a:cs typeface="Calibri" pitchFamily="34" charset="-120"/>
              </a:rPr>
              <a:t>An external reviewer independently audited every calculation. Each entry passed through triage, targeted deep dive, then full independent literature search — cross-referenced against UpToDate, Miller’s 9e, and Barash 8e. </a:t>
            </a:r>
          </a:p>
          <a:p>
            <a:pPr marL="0" indent="0">
              <a:lnSpc>
                <a:spcPct val="108000"/>
              </a:lnSpc>
              <a:buNone/>
            </a:pPr>
            <a:r>
              <a:rPr lang="en-US" sz="660" b="1" dirty="0">
                <a:solidFill>
                  <a:srgbClr val="231F20"/>
                </a:solidFill>
                <a:latin typeface="Calibri" pitchFamily="34" charset="0"/>
                <a:ea typeface="Calibri" pitchFamily="34" charset="-122"/>
                <a:cs typeface="Calibri" pitchFamily="34" charset="-120"/>
              </a:rPr>
              <a:t>All confirmed discrepancies were corrected before version finalized.</a:t>
            </a:r>
            <a:endParaRPr lang="en-US" sz="760" dirty="0"/>
          </a:p>
        </p:txBody>
      </p:sp>
      <p:sp>
        <p:nvSpPr>
          <p:cNvPr id="121" name="Shape 113"/>
          <p:cNvSpPr/>
          <p:nvPr/>
        </p:nvSpPr>
        <p:spPr>
          <a:xfrm>
            <a:off x="9006840" y="1234440"/>
            <a:ext cx="2910535" cy="1143000"/>
          </a:xfrm>
          <a:prstGeom prst="roundRect">
            <a:avLst>
              <a:gd name="adj" fmla="val 3200"/>
            </a:avLst>
          </a:prstGeom>
          <a:solidFill>
            <a:srgbClr val="FFFFFF"/>
          </a:solidFill>
          <a:ln w="9525">
            <a:solidFill>
              <a:srgbClr val="D7DBE8"/>
            </a:solidFill>
            <a:prstDash val="solid"/>
          </a:ln>
        </p:spPr>
        <p:txBody>
          <a:bodyPr/>
          <a:lstStyle/>
          <a:p>
            <a:endParaRPr lang="en-US"/>
          </a:p>
        </p:txBody>
      </p:sp>
      <p:sp>
        <p:nvSpPr>
          <p:cNvPr id="122" name="Text 114"/>
          <p:cNvSpPr txBox="1"/>
          <p:nvPr/>
        </p:nvSpPr>
        <p:spPr>
          <a:xfrm>
            <a:off x="9116568" y="1298448"/>
            <a:ext cx="2691079"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BEYOND THIS APPLICATION</a:t>
            </a:r>
            <a:endParaRPr lang="en-US" sz="1000" dirty="0"/>
          </a:p>
        </p:txBody>
      </p:sp>
      <p:sp>
        <p:nvSpPr>
          <p:cNvPr id="123" name="Shape 115"/>
          <p:cNvSpPr/>
          <p:nvPr/>
        </p:nvSpPr>
        <p:spPr>
          <a:xfrm>
            <a:off x="9116568" y="1481328"/>
            <a:ext cx="2691079" cy="20117"/>
          </a:xfrm>
          <a:prstGeom prst="rect">
            <a:avLst/>
          </a:prstGeom>
          <a:solidFill>
            <a:srgbClr val="BD9B70"/>
          </a:solidFill>
          <a:ln/>
        </p:spPr>
        <p:txBody>
          <a:bodyPr/>
          <a:lstStyle/>
          <a:p>
            <a:endParaRPr lang="en-US"/>
          </a:p>
        </p:txBody>
      </p:sp>
      <p:sp>
        <p:nvSpPr>
          <p:cNvPr id="124" name="Text 116"/>
          <p:cNvSpPr txBox="1"/>
          <p:nvPr/>
        </p:nvSpPr>
        <p:spPr>
          <a:xfrm>
            <a:off x="9116568" y="1515172"/>
            <a:ext cx="2691079" cy="777240"/>
          </a:xfrm>
          <a:prstGeom prst="rect">
            <a:avLst/>
          </a:prstGeom>
          <a:noFill/>
          <a:ln/>
        </p:spPr>
        <p:txBody>
          <a:bodyPr wrap="square" lIns="0" tIns="0" rIns="0" bIns="0" rtlCol="0" anchor="t"/>
          <a:lstStyle/>
          <a:p>
            <a:pPr marL="0" indent="0">
              <a:lnSpc>
                <a:spcPct val="108000"/>
              </a:lnSpc>
              <a:buNone/>
            </a:pPr>
            <a:r>
              <a:rPr lang="en-US" sz="710" dirty="0">
                <a:solidFill>
                  <a:srgbClr val="5A6176"/>
                </a:solidFill>
                <a:latin typeface="Calibri" pitchFamily="34" charset="0"/>
                <a:ea typeface="Calibri" pitchFamily="34" charset="-122"/>
                <a:cs typeface="Calibri" pitchFamily="34" charset="-120"/>
              </a:rPr>
              <a:t>The workflow, not the app, is the transferable product. The same six steps apply to almost any clinical need:
</a:t>
            </a:r>
            <a:r>
              <a:rPr lang="en-US" sz="720" dirty="0">
                <a:solidFill>
                  <a:srgbClr val="231F20"/>
                </a:solidFill>
                <a:latin typeface="Calibri" pitchFamily="34" charset="0"/>
                <a:ea typeface="Calibri" pitchFamily="34" charset="-122"/>
                <a:cs typeface="Calibri" pitchFamily="34" charset="-120"/>
              </a:rPr>
              <a:t>• Custom calculators and order-set helpers inside the EMR
• Desktop widgets for rapid reference at the workstation
• Anesthetic plan generators from structured case data
• Custom case simulators for resident training
• Departmental protocol, checklist, and QI dashboards</a:t>
            </a:r>
            <a:endParaRPr lang="en-US" sz="720" dirty="0"/>
          </a:p>
        </p:txBody>
      </p:sp>
      <p:sp>
        <p:nvSpPr>
          <p:cNvPr id="125" name="Shape 117"/>
          <p:cNvSpPr/>
          <p:nvPr/>
        </p:nvSpPr>
        <p:spPr>
          <a:xfrm>
            <a:off x="9006840" y="2456940"/>
            <a:ext cx="2910535" cy="2253996"/>
          </a:xfrm>
          <a:prstGeom prst="roundRect">
            <a:avLst>
              <a:gd name="adj" fmla="val 1660"/>
            </a:avLst>
          </a:prstGeom>
          <a:solidFill>
            <a:srgbClr val="FFFFFF"/>
          </a:solidFill>
          <a:ln w="9525">
            <a:solidFill>
              <a:srgbClr val="D7DBE8"/>
            </a:solidFill>
            <a:prstDash val="solid"/>
          </a:ln>
        </p:spPr>
        <p:txBody>
          <a:bodyPr/>
          <a:lstStyle/>
          <a:p>
            <a:endParaRPr lang="en-US"/>
          </a:p>
        </p:txBody>
      </p:sp>
      <p:sp>
        <p:nvSpPr>
          <p:cNvPr id="126" name="Text 118"/>
          <p:cNvSpPr txBox="1"/>
          <p:nvPr/>
        </p:nvSpPr>
        <p:spPr>
          <a:xfrm>
            <a:off x="9116568" y="2520948"/>
            <a:ext cx="2691079"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LIMITATIONS &amp; FUTURE WORK</a:t>
            </a:r>
            <a:endParaRPr lang="en-US" sz="1000" dirty="0"/>
          </a:p>
        </p:txBody>
      </p:sp>
      <p:sp>
        <p:nvSpPr>
          <p:cNvPr id="127" name="Shape 119"/>
          <p:cNvSpPr/>
          <p:nvPr/>
        </p:nvSpPr>
        <p:spPr>
          <a:xfrm>
            <a:off x="9116568" y="2703828"/>
            <a:ext cx="2691079" cy="20117"/>
          </a:xfrm>
          <a:prstGeom prst="rect">
            <a:avLst/>
          </a:prstGeom>
          <a:solidFill>
            <a:srgbClr val="BD9B70"/>
          </a:solidFill>
          <a:ln/>
        </p:spPr>
        <p:txBody>
          <a:bodyPr/>
          <a:lstStyle/>
          <a:p>
            <a:endParaRPr lang="en-US"/>
          </a:p>
        </p:txBody>
      </p:sp>
      <p:sp>
        <p:nvSpPr>
          <p:cNvPr id="128" name="Text 120"/>
          <p:cNvSpPr txBox="1"/>
          <p:nvPr/>
        </p:nvSpPr>
        <p:spPr>
          <a:xfrm>
            <a:off x="9116568" y="2725072"/>
            <a:ext cx="2691079" cy="146304"/>
          </a:xfrm>
          <a:prstGeom prst="rect">
            <a:avLst/>
          </a:prstGeom>
          <a:noFill/>
          <a:ln/>
        </p:spPr>
        <p:txBody>
          <a:bodyPr wrap="square" lIns="0" tIns="0" rIns="0" bIns="0" rtlCol="0" anchor="t"/>
          <a:lstStyle/>
          <a:p>
            <a:pPr marL="0" indent="0">
              <a:buNone/>
            </a:pPr>
            <a:r>
              <a:rPr lang="en-US" sz="760" b="1" dirty="0">
                <a:solidFill>
                  <a:srgbClr val="253E85"/>
                </a:solidFill>
                <a:latin typeface="Calibri" pitchFamily="34" charset="0"/>
                <a:ea typeface="Calibri" pitchFamily="34" charset="-122"/>
                <a:cs typeface="Calibri" pitchFamily="34" charset="-120"/>
              </a:rPr>
              <a:t>Of AI-assisted development, generally</a:t>
            </a:r>
            <a:endParaRPr lang="en-US" sz="760" dirty="0"/>
          </a:p>
        </p:txBody>
      </p:sp>
      <p:sp>
        <p:nvSpPr>
          <p:cNvPr id="129" name="Text 121"/>
          <p:cNvSpPr txBox="1"/>
          <p:nvPr/>
        </p:nvSpPr>
        <p:spPr>
          <a:xfrm>
            <a:off x="9116568" y="2839628"/>
            <a:ext cx="2691079" cy="768096"/>
          </a:xfrm>
          <a:prstGeom prst="rect">
            <a:avLst/>
          </a:prstGeom>
          <a:noFill/>
          <a:ln/>
        </p:spPr>
        <p:txBody>
          <a:bodyPr wrap="square" lIns="0" tIns="0" rIns="0" bIns="0" rtlCol="0" anchor="t"/>
          <a:lstStyle/>
          <a:p>
            <a:pPr marL="0" indent="0">
              <a:lnSpc>
                <a:spcPct val="108000"/>
              </a:lnSpc>
              <a:buNone/>
            </a:pPr>
            <a:r>
              <a:rPr lang="en-US" sz="690" dirty="0">
                <a:solidFill>
                  <a:srgbClr val="231F20"/>
                </a:solidFill>
                <a:latin typeface="Calibri" pitchFamily="34" charset="0"/>
                <a:ea typeface="Calibri" pitchFamily="34" charset="-122"/>
                <a:cs typeface="Calibri" pitchFamily="34" charset="-120"/>
              </a:rPr>
              <a:t>• LLMs reason in language, not graphics — visual and UI design still require human iteration
• Output is bounded by the model’s knowledge and the target platform’s Software Development Kit
• Hardware and OS compatibility must be verified on real devices
• Institutional IT and security policy may restrict custom software and PHI handling</a:t>
            </a:r>
            <a:endParaRPr lang="en-US" sz="690" dirty="0"/>
          </a:p>
        </p:txBody>
      </p:sp>
      <p:sp>
        <p:nvSpPr>
          <p:cNvPr id="130" name="Text 122"/>
          <p:cNvSpPr txBox="1"/>
          <p:nvPr/>
        </p:nvSpPr>
        <p:spPr>
          <a:xfrm>
            <a:off x="9116568" y="3629813"/>
            <a:ext cx="2691079" cy="146304"/>
          </a:xfrm>
          <a:prstGeom prst="rect">
            <a:avLst/>
          </a:prstGeom>
          <a:noFill/>
          <a:ln/>
        </p:spPr>
        <p:txBody>
          <a:bodyPr wrap="square" lIns="0" tIns="0" rIns="0" bIns="0" rtlCol="0" anchor="t"/>
          <a:lstStyle/>
          <a:p>
            <a:pPr marL="0" indent="0">
              <a:buNone/>
            </a:pPr>
            <a:r>
              <a:rPr lang="en-US" sz="760" b="1" dirty="0">
                <a:solidFill>
                  <a:srgbClr val="253E85"/>
                </a:solidFill>
                <a:latin typeface="Calibri" pitchFamily="34" charset="0"/>
                <a:ea typeface="Calibri" pitchFamily="34" charset="-122"/>
                <a:cs typeface="Calibri" pitchFamily="34" charset="-120"/>
              </a:rPr>
              <a:t>Of this implementation</a:t>
            </a:r>
            <a:endParaRPr lang="en-US" sz="760" dirty="0"/>
          </a:p>
        </p:txBody>
      </p:sp>
      <p:sp>
        <p:nvSpPr>
          <p:cNvPr id="131" name="Text 123"/>
          <p:cNvSpPr txBox="1"/>
          <p:nvPr/>
        </p:nvSpPr>
        <p:spPr>
          <a:xfrm>
            <a:off x="9116568" y="3745202"/>
            <a:ext cx="2691079" cy="219456"/>
          </a:xfrm>
          <a:prstGeom prst="rect">
            <a:avLst/>
          </a:prstGeom>
          <a:noFill/>
          <a:ln/>
        </p:spPr>
        <p:txBody>
          <a:bodyPr wrap="square" lIns="0" tIns="0" rIns="0" bIns="0" rtlCol="0" anchor="t"/>
          <a:lstStyle/>
          <a:p>
            <a:pPr marL="0" indent="0">
              <a:lnSpc>
                <a:spcPct val="108000"/>
              </a:lnSpc>
              <a:buNone/>
            </a:pPr>
            <a:r>
              <a:rPr lang="en-US" sz="690" dirty="0">
                <a:solidFill>
                  <a:srgbClr val="231F20"/>
                </a:solidFill>
                <a:latin typeface="Calibri" pitchFamily="34" charset="0"/>
                <a:ea typeface="Calibri" pitchFamily="34" charset="-122"/>
                <a:cs typeface="Calibri" pitchFamily="34" charset="-120"/>
              </a:rPr>
              <a:t>• iOS only; not a regulated medical device — every output requires clinician verification</a:t>
            </a:r>
          </a:p>
          <a:p>
            <a:pPr>
              <a:lnSpc>
                <a:spcPct val="108000"/>
              </a:lnSpc>
            </a:pPr>
            <a:r>
              <a:rPr lang="en-US" sz="690" dirty="0">
                <a:solidFill>
                  <a:srgbClr val="231F20"/>
                </a:solidFill>
                <a:latin typeface="Calibri" pitchFamily="34" charset="0"/>
                <a:ea typeface="Calibri" pitchFamily="34" charset="-122"/>
                <a:cs typeface="Calibri" pitchFamily="34" charset="-120"/>
              </a:rPr>
              <a:t>• Final product capability is constrained by the LLM’s tooling — user-defined feature scope is bounded by what the model can generate</a:t>
            </a:r>
          </a:p>
        </p:txBody>
      </p:sp>
      <p:sp>
        <p:nvSpPr>
          <p:cNvPr id="132" name="Text 124"/>
          <p:cNvSpPr txBox="1"/>
          <p:nvPr/>
        </p:nvSpPr>
        <p:spPr>
          <a:xfrm>
            <a:off x="9116568" y="4202748"/>
            <a:ext cx="2691079" cy="146304"/>
          </a:xfrm>
          <a:prstGeom prst="rect">
            <a:avLst/>
          </a:prstGeom>
          <a:noFill/>
          <a:ln/>
        </p:spPr>
        <p:txBody>
          <a:bodyPr wrap="square" lIns="0" tIns="0" rIns="0" bIns="0" rtlCol="0" anchor="t"/>
          <a:lstStyle/>
          <a:p>
            <a:pPr marL="0" indent="0">
              <a:buNone/>
            </a:pPr>
            <a:r>
              <a:rPr lang="en-US" sz="760" b="1" dirty="0">
                <a:solidFill>
                  <a:srgbClr val="253E85"/>
                </a:solidFill>
                <a:latin typeface="Calibri" pitchFamily="34" charset="0"/>
                <a:ea typeface="Calibri" pitchFamily="34" charset="-122"/>
                <a:cs typeface="Calibri" pitchFamily="34" charset="-120"/>
              </a:rPr>
              <a:t>Future work</a:t>
            </a:r>
            <a:endParaRPr lang="en-US" sz="760" dirty="0"/>
          </a:p>
        </p:txBody>
      </p:sp>
      <p:sp>
        <p:nvSpPr>
          <p:cNvPr id="133" name="Text 125"/>
          <p:cNvSpPr txBox="1"/>
          <p:nvPr/>
        </p:nvSpPr>
        <p:spPr>
          <a:xfrm>
            <a:off x="9116568" y="4315638"/>
            <a:ext cx="2691079" cy="237744"/>
          </a:xfrm>
          <a:prstGeom prst="rect">
            <a:avLst/>
          </a:prstGeom>
          <a:noFill/>
          <a:ln/>
        </p:spPr>
        <p:txBody>
          <a:bodyPr wrap="square" lIns="0" tIns="0" rIns="0" bIns="0" rtlCol="0" anchor="t"/>
          <a:lstStyle/>
          <a:p>
            <a:pPr marL="0" indent="0">
              <a:lnSpc>
                <a:spcPct val="108000"/>
              </a:lnSpc>
              <a:buNone/>
            </a:pPr>
            <a:r>
              <a:rPr lang="en-US" sz="690" dirty="0">
                <a:solidFill>
                  <a:srgbClr val="231F20"/>
                </a:solidFill>
                <a:latin typeface="Calibri" pitchFamily="34" charset="0"/>
                <a:ea typeface="Calibri" pitchFamily="34" charset="-122"/>
                <a:cs typeface="Calibri" pitchFamily="34" charset="-120"/>
              </a:rPr>
              <a:t>• Prospective outcomes validation  ·  FDA SaMD regulatory classification
• Clinician evaluation  ·  formal usability review in training contexts
• App Store sponsorship  ·  Android functionality</a:t>
            </a:r>
            <a:endParaRPr lang="en-US" sz="690" dirty="0"/>
          </a:p>
        </p:txBody>
      </p:sp>
      <p:sp>
        <p:nvSpPr>
          <p:cNvPr id="134" name="Shape 126"/>
          <p:cNvSpPr/>
          <p:nvPr/>
        </p:nvSpPr>
        <p:spPr>
          <a:xfrm>
            <a:off x="9006840" y="4800600"/>
            <a:ext cx="2910535" cy="758952"/>
          </a:xfrm>
          <a:prstGeom prst="roundRect">
            <a:avLst>
              <a:gd name="adj" fmla="val 4819"/>
            </a:avLst>
          </a:prstGeom>
          <a:solidFill>
            <a:srgbClr val="F3EEE6"/>
          </a:solidFill>
          <a:ln w="12700">
            <a:solidFill>
              <a:srgbClr val="BD9B70"/>
            </a:solidFill>
            <a:prstDash val="solid"/>
          </a:ln>
        </p:spPr>
        <p:txBody>
          <a:bodyPr/>
          <a:lstStyle/>
          <a:p>
            <a:endParaRPr lang="en-US"/>
          </a:p>
        </p:txBody>
      </p:sp>
      <p:sp>
        <p:nvSpPr>
          <p:cNvPr id="135" name="Text 127"/>
          <p:cNvSpPr txBox="1"/>
          <p:nvPr/>
        </p:nvSpPr>
        <p:spPr>
          <a:xfrm>
            <a:off x="9116568" y="4864608"/>
            <a:ext cx="2691079"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AI DISCLOSURE</a:t>
            </a:r>
            <a:endParaRPr lang="en-US" sz="1000" dirty="0"/>
          </a:p>
        </p:txBody>
      </p:sp>
      <p:sp>
        <p:nvSpPr>
          <p:cNvPr id="136" name="Shape 128"/>
          <p:cNvSpPr/>
          <p:nvPr/>
        </p:nvSpPr>
        <p:spPr>
          <a:xfrm>
            <a:off x="9116568" y="5047488"/>
            <a:ext cx="2691079" cy="20117"/>
          </a:xfrm>
          <a:prstGeom prst="rect">
            <a:avLst/>
          </a:prstGeom>
          <a:solidFill>
            <a:srgbClr val="BD9B70"/>
          </a:solidFill>
          <a:ln/>
        </p:spPr>
        <p:txBody>
          <a:bodyPr/>
          <a:lstStyle/>
          <a:p>
            <a:endParaRPr lang="en-US"/>
          </a:p>
        </p:txBody>
      </p:sp>
      <p:sp>
        <p:nvSpPr>
          <p:cNvPr id="137" name="Text 129"/>
          <p:cNvSpPr txBox="1"/>
          <p:nvPr/>
        </p:nvSpPr>
        <p:spPr>
          <a:xfrm>
            <a:off x="9116568" y="5070822"/>
            <a:ext cx="2691079" cy="365760"/>
          </a:xfrm>
          <a:prstGeom prst="rect">
            <a:avLst/>
          </a:prstGeom>
          <a:noFill/>
          <a:ln/>
        </p:spPr>
        <p:txBody>
          <a:bodyPr wrap="square" lIns="0" tIns="0" rIns="0" bIns="0" rtlCol="0" anchor="t"/>
          <a:lstStyle/>
          <a:p>
            <a:pPr marL="0" indent="0">
              <a:lnSpc>
                <a:spcPct val="108000"/>
              </a:lnSpc>
              <a:buNone/>
            </a:pPr>
            <a:r>
              <a:rPr lang="en-US" sz="650" dirty="0">
                <a:solidFill>
                  <a:srgbClr val="231F20"/>
                </a:solidFill>
                <a:latin typeface="Calibri" pitchFamily="34" charset="0"/>
                <a:ea typeface="Calibri" pitchFamily="34" charset="-122"/>
                <a:cs typeface="Calibri" pitchFamily="34" charset="-120"/>
              </a:rPr>
              <a:t>A conversational LLM, Claude Sonnet 4.6 (Anthropic, PBC), was utilized for native code generation (“vibe coding”). The first author (AP) directed all prompt engineering, designed the system architecture, and verified compilation outputs. </a:t>
            </a:r>
            <a:r>
              <a:rPr lang="en-US" sz="650" b="1" dirty="0">
                <a:solidFill>
                  <a:srgbClr val="231F20"/>
                </a:solidFill>
                <a:latin typeface="Calibri" pitchFamily="34" charset="0"/>
                <a:ea typeface="Calibri" pitchFamily="34" charset="-122"/>
                <a:cs typeface="Calibri" pitchFamily="34" charset="-120"/>
              </a:rPr>
              <a:t>The AI assistant does not hold authorship status.</a:t>
            </a:r>
            <a:endParaRPr lang="en-US" sz="760" dirty="0"/>
          </a:p>
        </p:txBody>
      </p:sp>
      <p:sp>
        <p:nvSpPr>
          <p:cNvPr id="138" name="Shape 130"/>
          <p:cNvSpPr/>
          <p:nvPr/>
        </p:nvSpPr>
        <p:spPr>
          <a:xfrm>
            <a:off x="274320" y="5669280"/>
            <a:ext cx="7772400" cy="804672"/>
          </a:xfrm>
          <a:prstGeom prst="roundRect">
            <a:avLst>
              <a:gd name="adj" fmla="val 4545"/>
            </a:avLst>
          </a:prstGeom>
          <a:solidFill>
            <a:srgbClr val="FFFFFF"/>
          </a:solidFill>
          <a:ln w="9525">
            <a:solidFill>
              <a:srgbClr val="D7DBE8"/>
            </a:solidFill>
            <a:prstDash val="solid"/>
          </a:ln>
        </p:spPr>
        <p:txBody>
          <a:bodyPr/>
          <a:lstStyle/>
          <a:p>
            <a:endParaRPr lang="en-US"/>
          </a:p>
        </p:txBody>
      </p:sp>
      <p:sp>
        <p:nvSpPr>
          <p:cNvPr id="139" name="Text 131"/>
          <p:cNvSpPr txBox="1"/>
          <p:nvPr/>
        </p:nvSpPr>
        <p:spPr>
          <a:xfrm>
            <a:off x="384048" y="5733288"/>
            <a:ext cx="7552944"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REFERENCES</a:t>
            </a:r>
            <a:endParaRPr lang="en-US" sz="1000" dirty="0"/>
          </a:p>
        </p:txBody>
      </p:sp>
      <p:sp>
        <p:nvSpPr>
          <p:cNvPr id="140" name="Shape 132"/>
          <p:cNvSpPr/>
          <p:nvPr/>
        </p:nvSpPr>
        <p:spPr>
          <a:xfrm>
            <a:off x="384048" y="5916168"/>
            <a:ext cx="7552944" cy="20117"/>
          </a:xfrm>
          <a:prstGeom prst="rect">
            <a:avLst/>
          </a:prstGeom>
          <a:solidFill>
            <a:srgbClr val="BD9B70"/>
          </a:solidFill>
          <a:ln/>
        </p:spPr>
        <p:txBody>
          <a:bodyPr/>
          <a:lstStyle/>
          <a:p>
            <a:endParaRPr lang="en-US"/>
          </a:p>
        </p:txBody>
      </p:sp>
      <p:sp>
        <p:nvSpPr>
          <p:cNvPr id="141" name="Text 133"/>
          <p:cNvSpPr txBox="1"/>
          <p:nvPr/>
        </p:nvSpPr>
        <p:spPr>
          <a:xfrm>
            <a:off x="384048" y="5971032"/>
            <a:ext cx="3685032" cy="438912"/>
          </a:xfrm>
          <a:prstGeom prst="rect">
            <a:avLst/>
          </a:prstGeom>
          <a:noFill/>
          <a:ln/>
        </p:spPr>
        <p:txBody>
          <a:bodyPr wrap="square" lIns="0" tIns="0" rIns="0" bIns="0" rtlCol="0" anchor="t"/>
          <a:lstStyle/>
          <a:p>
            <a:pPr marL="0" indent="0">
              <a:lnSpc>
                <a:spcPct val="102000"/>
              </a:lnSpc>
              <a:buNone/>
            </a:pPr>
            <a:r>
              <a:rPr lang="en-US" sz="620" dirty="0">
                <a:solidFill>
                  <a:srgbClr val="231F20"/>
                </a:solidFill>
                <a:latin typeface="Calibri" pitchFamily="34" charset="0"/>
                <a:ea typeface="Calibri" pitchFamily="34" charset="-122"/>
                <a:cs typeface="Calibri" pitchFamily="34" charset="-120"/>
              </a:rPr>
              <a:t>1. Gropper MA, Miller RD, Cohen NH, et al., eds. Miller’s Anesthesia. 9th ed. Philadelphia, PA: Elsevier; 2020.
2. Barash PG, et al., eds. Clinical Anesthesia. 8th ed. Philadelphia, PA: Wolters Kluwer; 2017.
3. Eger EI 2nd. Age, minimum alveolar anesthetic concentration, and minimum alveolar anesthetic concentration-awake. Anesth Analg. 2001;93(4):947-953.</a:t>
            </a:r>
            <a:endParaRPr lang="en-US" sz="620" dirty="0"/>
          </a:p>
        </p:txBody>
      </p:sp>
      <p:sp>
        <p:nvSpPr>
          <p:cNvPr id="142" name="Text 134"/>
          <p:cNvSpPr txBox="1"/>
          <p:nvPr/>
        </p:nvSpPr>
        <p:spPr>
          <a:xfrm>
            <a:off x="4251960" y="5971032"/>
            <a:ext cx="3685032" cy="438912"/>
          </a:xfrm>
          <a:prstGeom prst="rect">
            <a:avLst/>
          </a:prstGeom>
          <a:noFill/>
          <a:ln/>
        </p:spPr>
        <p:txBody>
          <a:bodyPr wrap="square" lIns="0" tIns="0" rIns="0" bIns="0" rtlCol="0" anchor="t"/>
          <a:lstStyle/>
          <a:p>
            <a:pPr marL="0" indent="0">
              <a:lnSpc>
                <a:spcPct val="102000"/>
              </a:lnSpc>
              <a:buNone/>
            </a:pPr>
            <a:r>
              <a:rPr lang="en-US" sz="620" dirty="0">
                <a:solidFill>
                  <a:srgbClr val="231F20"/>
                </a:solidFill>
                <a:latin typeface="Calibri" pitchFamily="34" charset="0"/>
                <a:ea typeface="Calibri" pitchFamily="34" charset="-122"/>
                <a:cs typeface="Calibri" pitchFamily="34" charset="-120"/>
              </a:rPr>
              <a:t>4. Gan TJ, Diemunsch P, Habib AS, et al. Consensus guidelines for the management of postoperative nausea and vomiting. Anesth Analg. 2014;118(1):85-113.
5. Panchal AR, Bartos JA, Cabañas JG, et al. Part 3: Adult Basic and Advanced Life Support: 2020 American Heart Association Guidelines for CPR and Emergency Cardiovascular Care. Circulation. 2020;142(16 Suppl 2):S366-S468.</a:t>
            </a:r>
            <a:endParaRPr lang="en-US" sz="620" dirty="0"/>
          </a:p>
        </p:txBody>
      </p:sp>
      <p:sp>
        <p:nvSpPr>
          <p:cNvPr id="143" name="Shape 135"/>
          <p:cNvSpPr/>
          <p:nvPr/>
        </p:nvSpPr>
        <p:spPr>
          <a:xfrm>
            <a:off x="8183880" y="5669280"/>
            <a:ext cx="3733495" cy="804672"/>
          </a:xfrm>
          <a:prstGeom prst="roundRect">
            <a:avLst>
              <a:gd name="adj" fmla="val 4545"/>
            </a:avLst>
          </a:prstGeom>
          <a:solidFill>
            <a:srgbClr val="FFFFFF"/>
          </a:solidFill>
          <a:ln w="9525">
            <a:solidFill>
              <a:srgbClr val="D7DBE8"/>
            </a:solidFill>
            <a:prstDash val="solid"/>
          </a:ln>
        </p:spPr>
        <p:txBody>
          <a:bodyPr/>
          <a:lstStyle/>
          <a:p>
            <a:endParaRPr lang="en-US"/>
          </a:p>
        </p:txBody>
      </p:sp>
      <p:sp>
        <p:nvSpPr>
          <p:cNvPr id="144" name="Text 136"/>
          <p:cNvSpPr txBox="1"/>
          <p:nvPr/>
        </p:nvSpPr>
        <p:spPr>
          <a:xfrm>
            <a:off x="8293608" y="5733288"/>
            <a:ext cx="3514039" cy="182880"/>
          </a:xfrm>
          <a:prstGeom prst="rect">
            <a:avLst/>
          </a:prstGeom>
          <a:noFill/>
          <a:ln/>
        </p:spPr>
        <p:txBody>
          <a:bodyPr wrap="square" lIns="0" tIns="0" rIns="0" bIns="0" rtlCol="0" anchor="ctr"/>
          <a:lstStyle/>
          <a:p>
            <a:pPr marL="0" indent="0">
              <a:buNone/>
            </a:pPr>
            <a:r>
              <a:rPr lang="en-US" sz="1000" b="1" kern="0" spc="110" dirty="0">
                <a:solidFill>
                  <a:srgbClr val="253E85"/>
                </a:solidFill>
                <a:latin typeface="Calibri" pitchFamily="34" charset="0"/>
                <a:ea typeface="Calibri" pitchFamily="34" charset="-122"/>
                <a:cs typeface="Calibri" pitchFamily="34" charset="-120"/>
              </a:rPr>
              <a:t>ACKNOWLEDGMENTS / CONTACT</a:t>
            </a:r>
            <a:endParaRPr lang="en-US" sz="1000" dirty="0"/>
          </a:p>
        </p:txBody>
      </p:sp>
      <p:sp>
        <p:nvSpPr>
          <p:cNvPr id="145" name="Shape 137"/>
          <p:cNvSpPr/>
          <p:nvPr/>
        </p:nvSpPr>
        <p:spPr>
          <a:xfrm>
            <a:off x="8293608" y="5916168"/>
            <a:ext cx="3514039" cy="20117"/>
          </a:xfrm>
          <a:prstGeom prst="rect">
            <a:avLst/>
          </a:prstGeom>
          <a:solidFill>
            <a:srgbClr val="BD9B70"/>
          </a:solidFill>
          <a:ln/>
        </p:spPr>
        <p:txBody>
          <a:bodyPr/>
          <a:lstStyle/>
          <a:p>
            <a:endParaRPr lang="en-US"/>
          </a:p>
        </p:txBody>
      </p:sp>
      <p:sp>
        <p:nvSpPr>
          <p:cNvPr id="146" name="Text 138"/>
          <p:cNvSpPr txBox="1"/>
          <p:nvPr/>
        </p:nvSpPr>
        <p:spPr>
          <a:xfrm>
            <a:off x="8293608" y="5950012"/>
            <a:ext cx="3514039" cy="438912"/>
          </a:xfrm>
          <a:prstGeom prst="rect">
            <a:avLst/>
          </a:prstGeom>
          <a:noFill/>
          <a:ln/>
        </p:spPr>
        <p:txBody>
          <a:bodyPr wrap="square" lIns="0" tIns="0" rIns="0" bIns="0" rtlCol="0" anchor="t"/>
          <a:lstStyle/>
          <a:p>
            <a:pPr marL="0" indent="0">
              <a:lnSpc>
                <a:spcPct val="108000"/>
              </a:lnSpc>
              <a:buNone/>
            </a:pPr>
            <a:r>
              <a:rPr lang="en-US" sz="660" dirty="0">
                <a:solidFill>
                  <a:srgbClr val="231F20"/>
                </a:solidFill>
                <a:latin typeface="Calibri" pitchFamily="34" charset="0"/>
                <a:ea typeface="Calibri" pitchFamily="34" charset="-122"/>
                <a:cs typeface="Calibri" pitchFamily="34" charset="-120"/>
              </a:rPr>
              <a:t>The authors thank Emily Waddle, Class of 2029 at Burrell College School of Osteopathic Medicine, NM, for technical data support during the external UpToDate reference validation and algorithmic verification phases.
</a:t>
            </a:r>
            <a:r>
              <a:rPr lang="en-US" sz="660" i="1" dirty="0">
                <a:solidFill>
                  <a:srgbClr val="5A6176"/>
                </a:solidFill>
                <a:latin typeface="Calibri" pitchFamily="34" charset="0"/>
                <a:ea typeface="Calibri" pitchFamily="34" charset="-122"/>
                <a:cs typeface="Calibri" pitchFamily="34" charset="-120"/>
              </a:rPr>
              <a:t>Contact: Andrew Peace, </a:t>
            </a:r>
            <a:r>
              <a:rPr lang="en-US" sz="660" i="1" dirty="0" err="1">
                <a:solidFill>
                  <a:srgbClr val="5A6176"/>
                </a:solidFill>
                <a:latin typeface="Calibri" pitchFamily="34" charset="0"/>
                <a:ea typeface="Calibri" pitchFamily="34" charset="-122"/>
                <a:cs typeface="Calibri" pitchFamily="34" charset="-120"/>
              </a:rPr>
              <a:t>andrew.peace@burrell.edu</a:t>
            </a:r>
            <a:endParaRPr lang="en-US" sz="760" dirty="0"/>
          </a:p>
        </p:txBody>
      </p:sp>
      <p:pic>
        <p:nvPicPr>
          <p:cNvPr id="147" name="Picture 146">
            <a:extLst>
              <a:ext uri="{FF2B5EF4-FFF2-40B4-BE49-F238E27FC236}">
                <a16:creationId xmlns:a16="http://schemas.microsoft.com/office/drawing/2014/main" id="{F357CEBD-6BA2-7D0C-3843-651EE1466CEB}"/>
              </a:ext>
            </a:extLst>
          </p:cNvPr>
          <p:cNvPicPr>
            <a:picLocks noChangeAspect="1"/>
          </p:cNvPicPr>
          <p:nvPr/>
        </p:nvPicPr>
        <p:blipFill>
          <a:blip r:embed="rId9"/>
          <a:stretch>
            <a:fillRect/>
          </a:stretch>
        </p:blipFill>
        <p:spPr>
          <a:xfrm>
            <a:off x="10482681" y="204826"/>
            <a:ext cx="651053" cy="651053"/>
          </a:xfrm>
          <a:prstGeom prst="rect">
            <a:avLst/>
          </a:prstGeom>
        </p:spPr>
      </p:pic>
      <p:sp>
        <p:nvSpPr>
          <p:cNvPr id="148" name="Text 34">
            <a:extLst>
              <a:ext uri="{FF2B5EF4-FFF2-40B4-BE49-F238E27FC236}">
                <a16:creationId xmlns:a16="http://schemas.microsoft.com/office/drawing/2014/main" id="{E604F049-6004-A960-C674-C5D9C03B73E7}"/>
              </a:ext>
            </a:extLst>
          </p:cNvPr>
          <p:cNvSpPr txBox="1"/>
          <p:nvPr/>
        </p:nvSpPr>
        <p:spPr>
          <a:xfrm>
            <a:off x="496673" y="3783745"/>
            <a:ext cx="182880" cy="182880"/>
          </a:xfrm>
          <a:prstGeom prst="rect">
            <a:avLst/>
          </a:prstGeom>
          <a:solidFill>
            <a:srgbClr val="2E8B6A"/>
          </a:solid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3</a:t>
            </a:r>
            <a:endParaRPr lang="en-US" sz="700" dirty="0"/>
          </a:p>
        </p:txBody>
      </p:sp>
      <p:sp>
        <p:nvSpPr>
          <p:cNvPr id="149" name="Text 52">
            <a:extLst>
              <a:ext uri="{FF2B5EF4-FFF2-40B4-BE49-F238E27FC236}">
                <a16:creationId xmlns:a16="http://schemas.microsoft.com/office/drawing/2014/main" id="{67DA7B62-CD3D-73B0-22EF-999A49B066C6}"/>
              </a:ext>
            </a:extLst>
          </p:cNvPr>
          <p:cNvSpPr txBox="1"/>
          <p:nvPr/>
        </p:nvSpPr>
        <p:spPr>
          <a:xfrm>
            <a:off x="493776" y="4865984"/>
            <a:ext cx="182880" cy="182880"/>
          </a:xfrm>
          <a:prstGeom prst="rect">
            <a:avLst/>
          </a:prstGeom>
          <a:solidFill>
            <a:srgbClr val="2E8B6A"/>
          </a:solid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6</a:t>
            </a:r>
            <a:endParaRPr lang="en-US" sz="700" dirty="0"/>
          </a:p>
        </p:txBody>
      </p:sp>
      <p:sp>
        <p:nvSpPr>
          <p:cNvPr id="150" name="TextBox 149">
            <a:extLst>
              <a:ext uri="{FF2B5EF4-FFF2-40B4-BE49-F238E27FC236}">
                <a16:creationId xmlns:a16="http://schemas.microsoft.com/office/drawing/2014/main" id="{DC84B657-3D36-EF9B-4BE4-FC9EA0339062}"/>
              </a:ext>
            </a:extLst>
          </p:cNvPr>
          <p:cNvSpPr txBox="1"/>
          <p:nvPr/>
        </p:nvSpPr>
        <p:spPr>
          <a:xfrm>
            <a:off x="418346" y="5375600"/>
            <a:ext cx="496054" cy="107722"/>
          </a:xfrm>
          <a:prstGeom prst="rect">
            <a:avLst/>
          </a:prstGeom>
          <a:noFill/>
        </p:spPr>
        <p:txBody>
          <a:bodyPr wrap="square" lIns="0" tIns="0" rIns="0" bIns="0">
            <a:spAutoFit/>
          </a:bodyPr>
          <a:lstStyle/>
          <a:p>
            <a:pPr algn="l"/>
            <a:r>
              <a:rPr sz="700" b="1" dirty="0">
                <a:solidFill>
                  <a:srgbClr val="1D2E54"/>
                </a:solidFill>
              </a:rPr>
              <a:t>■ </a:t>
            </a:r>
            <a:r>
              <a:rPr lang="en-US" sz="700" b="0" dirty="0">
                <a:solidFill>
                  <a:srgbClr val="555555"/>
                </a:solidFill>
              </a:rPr>
              <a:t>User</a:t>
            </a:r>
            <a:r>
              <a:rPr sz="700" b="0" dirty="0">
                <a:solidFill>
                  <a:srgbClr val="555555"/>
                </a:solidFill>
              </a:rPr>
              <a:t>  </a:t>
            </a:r>
            <a:r>
              <a:rPr sz="700" b="1" dirty="0">
                <a:solidFill>
                  <a:srgbClr val="2E8B6A"/>
                </a:solidFill>
              </a:rPr>
              <a:t>■ </a:t>
            </a:r>
            <a:r>
              <a:rPr sz="700" b="0" dirty="0">
                <a:solidFill>
                  <a:srgbClr val="555555"/>
                </a:solidFill>
              </a:rPr>
              <a:t>AI</a:t>
            </a:r>
          </a:p>
        </p:txBody>
      </p:sp>
      <p:pic>
        <p:nvPicPr>
          <p:cNvPr id="152" name="Picture 151">
            <a:extLst>
              <a:ext uri="{FF2B5EF4-FFF2-40B4-BE49-F238E27FC236}">
                <a16:creationId xmlns:a16="http://schemas.microsoft.com/office/drawing/2014/main" id="{2B060B45-3BDF-FEF5-FDD2-147E79A14BA3}"/>
              </a:ext>
            </a:extLst>
          </p:cNvPr>
          <p:cNvPicPr>
            <a:picLocks noChangeAspect="1"/>
          </p:cNvPicPr>
          <p:nvPr/>
        </p:nvPicPr>
        <p:blipFill>
          <a:blip r:embed="rId10"/>
          <a:stretch>
            <a:fillRect/>
          </a:stretch>
        </p:blipFill>
        <p:spPr>
          <a:xfrm>
            <a:off x="2550978" y="2993618"/>
            <a:ext cx="298484" cy="298484"/>
          </a:xfrm>
          <a:prstGeom prst="rect">
            <a:avLst/>
          </a:prstGeom>
        </p:spPr>
      </p:pic>
      <p:pic>
        <p:nvPicPr>
          <p:cNvPr id="160" name="Picture 159">
            <a:extLst>
              <a:ext uri="{FF2B5EF4-FFF2-40B4-BE49-F238E27FC236}">
                <a16:creationId xmlns:a16="http://schemas.microsoft.com/office/drawing/2014/main" id="{66CC7B58-1965-12D9-A0D4-CC6549A5A73F}"/>
              </a:ext>
            </a:extLst>
          </p:cNvPr>
          <p:cNvPicPr>
            <a:picLocks noChangeAspect="1"/>
          </p:cNvPicPr>
          <p:nvPr/>
        </p:nvPicPr>
        <p:blipFill>
          <a:blip r:embed="rId11"/>
          <a:stretch>
            <a:fillRect/>
          </a:stretch>
        </p:blipFill>
        <p:spPr>
          <a:xfrm>
            <a:off x="2391635" y="4119372"/>
            <a:ext cx="611690" cy="611690"/>
          </a:xfrm>
          <a:prstGeom prst="rect">
            <a:avLst/>
          </a:prstGeom>
        </p:spPr>
      </p:pic>
      <p:pic>
        <p:nvPicPr>
          <p:cNvPr id="162" name="Picture 161">
            <a:extLst>
              <a:ext uri="{FF2B5EF4-FFF2-40B4-BE49-F238E27FC236}">
                <a16:creationId xmlns:a16="http://schemas.microsoft.com/office/drawing/2014/main" id="{3ED54AE5-0931-8ED4-D80E-5D1EC5AAEA43}"/>
              </a:ext>
            </a:extLst>
          </p:cNvPr>
          <p:cNvPicPr>
            <a:picLocks noChangeAspect="1"/>
          </p:cNvPicPr>
          <p:nvPr/>
        </p:nvPicPr>
        <p:blipFill>
          <a:blip r:embed="rId12"/>
          <a:stretch>
            <a:fillRect/>
          </a:stretch>
        </p:blipFill>
        <p:spPr>
          <a:xfrm flipH="1">
            <a:off x="2554190" y="3347622"/>
            <a:ext cx="286580" cy="286580"/>
          </a:xfrm>
          <a:prstGeom prst="rect">
            <a:avLst/>
          </a:prstGeom>
        </p:spPr>
      </p:pic>
      <p:pic>
        <p:nvPicPr>
          <p:cNvPr id="164" name="Picture 163">
            <a:extLst>
              <a:ext uri="{FF2B5EF4-FFF2-40B4-BE49-F238E27FC236}">
                <a16:creationId xmlns:a16="http://schemas.microsoft.com/office/drawing/2014/main" id="{EC935893-D19F-9E57-5F62-905506064DDB}"/>
              </a:ext>
            </a:extLst>
          </p:cNvPr>
          <p:cNvPicPr>
            <a:picLocks noChangeAspect="1"/>
          </p:cNvPicPr>
          <p:nvPr/>
        </p:nvPicPr>
        <p:blipFill>
          <a:blip r:embed="rId13"/>
          <a:stretch>
            <a:fillRect/>
          </a:stretch>
        </p:blipFill>
        <p:spPr>
          <a:xfrm>
            <a:off x="2539492" y="3730752"/>
            <a:ext cx="315976" cy="315976"/>
          </a:xfrm>
          <a:prstGeom prst="rect">
            <a:avLst/>
          </a:prstGeom>
        </p:spPr>
      </p:pic>
      <p:pic>
        <p:nvPicPr>
          <p:cNvPr id="166" name="Picture 165">
            <a:extLst>
              <a:ext uri="{FF2B5EF4-FFF2-40B4-BE49-F238E27FC236}">
                <a16:creationId xmlns:a16="http://schemas.microsoft.com/office/drawing/2014/main" id="{5F8050E2-4D4D-B447-ABB7-F48E6B5A6ACB}"/>
              </a:ext>
            </a:extLst>
          </p:cNvPr>
          <p:cNvPicPr>
            <a:picLocks noChangeAspect="1"/>
          </p:cNvPicPr>
          <p:nvPr/>
        </p:nvPicPr>
        <p:blipFill>
          <a:blip r:embed="rId14"/>
          <a:stretch>
            <a:fillRect/>
          </a:stretch>
        </p:blipFill>
        <p:spPr>
          <a:xfrm>
            <a:off x="2458789" y="4701921"/>
            <a:ext cx="435102" cy="435102"/>
          </a:xfrm>
          <a:prstGeom prst="rect">
            <a:avLst/>
          </a:prstGeom>
        </p:spPr>
      </p:pic>
      <p:sp>
        <p:nvSpPr>
          <p:cNvPr id="167" name="Circular Arrow 166">
            <a:extLst>
              <a:ext uri="{FF2B5EF4-FFF2-40B4-BE49-F238E27FC236}">
                <a16:creationId xmlns:a16="http://schemas.microsoft.com/office/drawing/2014/main" id="{65052AFD-6385-40AF-4071-5DB6B3D2FB12}"/>
              </a:ext>
            </a:extLst>
          </p:cNvPr>
          <p:cNvSpPr/>
          <p:nvPr/>
        </p:nvSpPr>
        <p:spPr>
          <a:xfrm rot="5400000">
            <a:off x="2683529" y="3089311"/>
            <a:ext cx="439382" cy="411480"/>
          </a:xfrm>
          <a:prstGeom prst="circularArrow">
            <a:avLst>
              <a:gd name="adj1" fmla="val 12500"/>
              <a:gd name="adj2" fmla="val 714327"/>
              <a:gd name="adj3" fmla="val 20457681"/>
              <a:gd name="adj4" fmla="val 10800000"/>
              <a:gd name="adj5" fmla="val 14940"/>
            </a:avLst>
          </a:prstGeom>
          <a:solidFill>
            <a:srgbClr val="253E85"/>
          </a:solidFill>
          <a:ln>
            <a:solidFill>
              <a:srgbClr val="253E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8" name="Circular Arrow 167">
            <a:extLst>
              <a:ext uri="{FF2B5EF4-FFF2-40B4-BE49-F238E27FC236}">
                <a16:creationId xmlns:a16="http://schemas.microsoft.com/office/drawing/2014/main" id="{47640858-DD3C-0DD1-07E3-736956EF6EB7}"/>
              </a:ext>
            </a:extLst>
          </p:cNvPr>
          <p:cNvSpPr/>
          <p:nvPr/>
        </p:nvSpPr>
        <p:spPr>
          <a:xfrm rot="5400000">
            <a:off x="2683529" y="3903625"/>
            <a:ext cx="439382" cy="411480"/>
          </a:xfrm>
          <a:prstGeom prst="circularArrow">
            <a:avLst>
              <a:gd name="adj1" fmla="val 12500"/>
              <a:gd name="adj2" fmla="val 714327"/>
              <a:gd name="adj3" fmla="val 20457681"/>
              <a:gd name="adj4" fmla="val 10800000"/>
              <a:gd name="adj5" fmla="val 14940"/>
            </a:avLst>
          </a:prstGeom>
          <a:solidFill>
            <a:srgbClr val="253E85"/>
          </a:solidFill>
          <a:ln>
            <a:solidFill>
              <a:srgbClr val="253E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9" name="Circular Arrow 168">
            <a:extLst>
              <a:ext uri="{FF2B5EF4-FFF2-40B4-BE49-F238E27FC236}">
                <a16:creationId xmlns:a16="http://schemas.microsoft.com/office/drawing/2014/main" id="{9261A041-5911-706D-9F0D-6A111BBB7655}"/>
              </a:ext>
            </a:extLst>
          </p:cNvPr>
          <p:cNvSpPr/>
          <p:nvPr/>
        </p:nvSpPr>
        <p:spPr>
          <a:xfrm rot="16200000" flipH="1">
            <a:off x="2242871" y="3450716"/>
            <a:ext cx="439382" cy="411480"/>
          </a:xfrm>
          <a:prstGeom prst="circularArrow">
            <a:avLst>
              <a:gd name="adj1" fmla="val 12500"/>
              <a:gd name="adj2" fmla="val 714327"/>
              <a:gd name="adj3" fmla="val 20457681"/>
              <a:gd name="adj4" fmla="val 10800000"/>
              <a:gd name="adj5" fmla="val 14940"/>
            </a:avLst>
          </a:prstGeom>
          <a:solidFill>
            <a:srgbClr val="253E85"/>
          </a:solidFill>
          <a:ln>
            <a:solidFill>
              <a:srgbClr val="253E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0" name="Circular Arrow 169">
            <a:extLst>
              <a:ext uri="{FF2B5EF4-FFF2-40B4-BE49-F238E27FC236}">
                <a16:creationId xmlns:a16="http://schemas.microsoft.com/office/drawing/2014/main" id="{897B9757-411B-A8A4-3588-D5F8D5F38381}"/>
              </a:ext>
            </a:extLst>
          </p:cNvPr>
          <p:cNvSpPr/>
          <p:nvPr/>
        </p:nvSpPr>
        <p:spPr>
          <a:xfrm rot="16200000" flipH="1">
            <a:off x="2194411" y="4534954"/>
            <a:ext cx="439382" cy="411480"/>
          </a:xfrm>
          <a:prstGeom prst="circularArrow">
            <a:avLst>
              <a:gd name="adj1" fmla="val 12500"/>
              <a:gd name="adj2" fmla="val 1061410"/>
              <a:gd name="adj3" fmla="val 20457681"/>
              <a:gd name="adj4" fmla="val 10800000"/>
              <a:gd name="adj5" fmla="val 14940"/>
            </a:avLst>
          </a:prstGeom>
          <a:solidFill>
            <a:srgbClr val="253E85"/>
          </a:solidFill>
          <a:ln>
            <a:solidFill>
              <a:srgbClr val="253E8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7423</TotalTime>
  <Words>884</Words>
  <Application>Microsoft Macintosh PowerPoint</Application>
  <PresentationFormat>Widescreen</PresentationFormat>
  <Paragraphs>75</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Andrew Peace</cp:lastModifiedBy>
  <cp:revision>6</cp:revision>
  <dcterms:created xsi:type="dcterms:W3CDTF">2026-09-19T12:36:21Z</dcterms:created>
  <dcterms:modified xsi:type="dcterms:W3CDTF">2026-09-26T12:09:09Z</dcterms:modified>
</cp:coreProperties>
</file>